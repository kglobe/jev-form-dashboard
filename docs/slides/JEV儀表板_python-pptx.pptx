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加總</c:v>
                </c:pt>
              </c:strCache>
            </c:strRef>
          </c:tx>
          <c:spPr>
            <a:solidFill>
              <a:srgbClr val="EEE9DF">
                <a:alpha val="70000"/>
              </a:srgbClr>
            </a:solidFill>
          </c:spPr>
          <c:cat>
            <c:strRef>
              <c:f>Sheet1!$A$2:$A$3</c:f>
              <c:strCache>
                <c:ptCount val="2"/>
                <c:pt idx="0">
                  <c:v>組合 A：金額＋訂單日期</c:v>
                </c:pt>
                <c:pt idx="1">
                  <c:v>組合 B：三個次要欄位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5.6</c:v>
                </c:pt>
                <c:pt idx="1">
                  <c:v>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平均</c:v>
                </c:pt>
              </c:strCache>
            </c:strRef>
          </c:tx>
          <c:spPr>
            <a:solidFill>
              <a:srgbClr val="FFB162"/>
            </a:solidFill>
          </c:spPr>
          <c:cat>
            <c:strRef>
              <c:f>Sheet1!$A$2:$A$3</c:f>
              <c:strCache>
                <c:ptCount val="2"/>
                <c:pt idx="0">
                  <c:v>組合 A：金額＋訂單日期</c:v>
                </c:pt>
                <c:pt idx="1">
                  <c:v>組合 B：三個次要欄位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2.8</c:v>
                </c:pt>
                <c:pt idx="1">
                  <c:v>2.0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EEE9D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EE9DF">
                <a:alpha val="25000"/>
              </a:srgbClr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EE9DF">
                  <a:alpha val="15000"/>
                </a:srgbClr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</c:valAx>
      <c:spPr>
        <a:noFill/>
        <a:ln>
          <a:noFill/>
        </a:ln>
      </c:spPr>
    </c:plotArea>
    <c:legend>
      <c:legendPos val="t"/>
      <c:overlay val="0"/>
    </c:legend>
    <c:dispBlanksAs val="gap"/>
  </c:chart>
  <c:spPr>
    <a:noFill/>
    <a:ln>
      <a:noFill/>
    </a:ln>
  </c:spPr>
  <c:txPr>
    <a:bodyPr/>
    <a:lstStyle/>
    <a:p>
      <a:pPr>
        <a:defRPr sz="1100">
          <a:solidFill>
            <a:srgbClr val="C9C1B1"/>
          </a:solidFill>
          <a:latin typeface="Noto Sans TC"/>
          <a:ea typeface="Noto Sans TC"/>
          <a:cs typeface="Noto Sans T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今天講的是一種分工方式，不限這個專案。希望大家聽完，回去能把自己專案裡叫模型做的事，拆成題目和規則兩半。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這三個問題是一開始就想避開的。第三個最實際，ERP 資料常見 20 到 50 個欄位。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這頁是今天的重點。模型完全不碰合法性、彙總和版面。就算它選了不合理的組合，只要規則表裡沒有，圖就畫不出來。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第三步、第五步和最後一步才問 JEV，其他步驟寫死在程式裡，可以寫單元測試。異常檢查是非同步的，失敗也不影響已經畫好的圖。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敏感欄位只送名稱和型別，相異值數量和樣本值整個不送。chart_count 的分數四捨五入再加一就是張數 K，夾在 1 到 6 之間。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 ConfigAssembler.evaluate 的兩層防呆。第二輪選圖也一樣：答 none、信心低於 0.5，或選了清單外的圖型，那一組就跳過。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兩個 dimension 湊不出散佈圖，因為表裡只有 measure 配 measure 才給 scatter。明細表不經過 JEV，每份儀表板固定加一張。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的分數來自文件範例，金額 3.0、訂單日期 2.6。B 是示意。同分時照產生順序，先兩欄組合，再雷達，再三欄組合。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第一輪先把欄位篩到最多 8 個候選，組合還沒爆炸就減量。第二輪只問分數最高的 2K 組，K 最多 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錯誤也一樣處理。JEV 或外部 API 失敗時，回給使用者的 502 只帶狀態碼，不轉出上游回應內容。外部系統的 secret 只認 DS_ 開頭的環境變數，呼叫當下才讀。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依需求分析時，JEV 多回答 rel_i 和 keep_&lt;chartId&gt; 兩種題目，合併對欄位用 map_k_j。題目變了，分工沒變：哪些要問、候選有哪些、答案採不採用，都是後端規則。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三件事照順序做。先列題目，題目的選項本身就是規則的邊界。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5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5.xml"/><Relationship Id="rId4" Type="http://schemas.openxmlformats.org/officeDocument/2006/relationships/slide" Target="slide7.xml"/><Relationship Id="rId5" Type="http://schemas.openxmlformats.org/officeDocument/2006/relationships/slide" Target="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2632"/>
            </a:gs>
            <a:gs pos="100000">
              <a:srgbClr val="2C3B4D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orb-orange"/>
          <p:cNvSpPr/>
          <p:nvPr/>
        </p:nvSpPr>
        <p:spPr>
          <a:xfrm>
            <a:off x="5577840" y="-1097280"/>
            <a:ext cx="4023360" cy="4023360"/>
          </a:xfrm>
          <a:prstGeom prst="ellipse">
            <a:avLst/>
          </a:prstGeom>
          <a:solidFill>
            <a:srgbClr val="FFB162">
              <a:alpha val="35000"/>
            </a:srgbClr>
          </a:solidFill>
          <a:ln>
            <a:noFill/>
          </a:ln>
          <a:effectLst>
            <a:softEdge rad="100584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!!orb-rust"/>
          <p:cNvSpPr/>
          <p:nvPr/>
        </p:nvSpPr>
        <p:spPr>
          <a:xfrm>
            <a:off x="4206240" y="3108960"/>
            <a:ext cx="3291840" cy="3291840"/>
          </a:xfrm>
          <a:prstGeom prst="ellipse">
            <a:avLst/>
          </a:prstGeom>
          <a:solidFill>
            <a:srgbClr val="A35139">
              <a:alpha val="55000"/>
            </a:srgbClr>
          </a:solidFill>
          <a:ln>
            <a:noFill/>
          </a:ln>
          <a:effectLst>
            <a:softEdge rad="82296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" name="!!orb-cream"/>
          <p:cNvSpPr/>
          <p:nvPr/>
        </p:nvSpPr>
        <p:spPr>
          <a:xfrm>
            <a:off x="0" y="3840479"/>
            <a:ext cx="1645920" cy="1645920"/>
          </a:xfrm>
          <a:prstGeom prst="ellipse">
            <a:avLst/>
          </a:prstGeom>
          <a:solidFill>
            <a:srgbClr val="EEE9DF">
              <a:alpha val="12000"/>
            </a:srgbClr>
          </a:solidFill>
          <a:ln>
            <a:noFill/>
          </a:ln>
          <a:effectLst>
            <a:softEdge rad="41148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" y="1097280"/>
            <a:ext cx="6583680" cy="3246120"/>
          </a:xfrm>
          <a:prstGeom prst="roundRect">
            <a:avLst>
              <a:gd name="adj" fmla="val 3380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600" b="1" lang="zh-TW" spc="300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JEV 智慧化產製儀表板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6035040" cy="160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>
              <a:lnSpc>
                <a:spcPts val="5940"/>
              </a:lnSpc>
            </a:pPr>
            <a:r>
              <a:rPr sz="5400" b="1" lang="zh-TW">
                <a:solidFill>
                  <a:srgbClr val="EEE9DF"/>
                </a:solidFill>
                <a:effectLst>
                  <a:outerShdw blurRad="50800" dist="19050" dir="5400000" algn="ctr" rotWithShape="0">
                    <a:srgbClr val="000000">
                      <a:alpha val="35000"/>
                    </a:srgbClr>
                  </a:outerShdw>
                </a:effectLst>
                <a:latin typeface="Noto Sans TC"/>
                <a:ea typeface="Noto Sans TC"/>
                <a:cs typeface="Noto Sans TC"/>
              </a:rPr>
              <a:t>JEV 只做判斷，</a:t>
            </a:r>
          </a:p>
          <a:p>
            <a:pPr hangingPunct="1">
              <a:lnSpc>
                <a:spcPts val="5940"/>
              </a:lnSpc>
            </a:pPr>
            <a:r>
              <a:rPr sz="5400" b="1" lang="zh-TW">
                <a:solidFill>
                  <a:srgbClr val="EEE9DF"/>
                </a:solidFill>
                <a:effectLst>
                  <a:outerShdw blurRad="50800" dist="19050" dir="5400000" algn="ctr" rotWithShape="0">
                    <a:srgbClr val="000000">
                      <a:alpha val="35000"/>
                    </a:srgbClr>
                  </a:outerShdw>
                </a:effectLst>
                <a:latin typeface="Noto Sans TC"/>
                <a:ea typeface="Noto Sans TC"/>
                <a:cs typeface="Noto Sans TC"/>
              </a:rPr>
              <a:t>其他交給規則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600" b="1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智慧化產製儀表板的流程與方法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內部技術分享 · 2026.10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1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2632"/>
            </a:gs>
            <a:gs pos="100000">
              <a:srgbClr val="2C3B4D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orb-orange"/>
          <p:cNvSpPr/>
          <p:nvPr/>
        </p:nvSpPr>
        <p:spPr>
          <a:xfrm>
            <a:off x="7223759" y="2834640"/>
            <a:ext cx="3291840" cy="3291840"/>
          </a:xfrm>
          <a:prstGeom prst="ellipse">
            <a:avLst/>
          </a:prstGeom>
          <a:solidFill>
            <a:srgbClr val="FFB162">
              <a:alpha val="35000"/>
            </a:srgbClr>
          </a:solidFill>
          <a:ln>
            <a:noFill/>
          </a:ln>
          <a:effectLst>
            <a:softEdge rad="82296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!!orb-rust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A35139">
              <a:alpha val="55000"/>
            </a:srgbClr>
          </a:solidFill>
          <a:ln>
            <a:noFill/>
          </a:ln>
          <a:effectLst>
            <a:softEdge rad="73152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" name="!!orb-cream"/>
          <p:cNvSpPr/>
          <p:nvPr/>
        </p:nvSpPr>
        <p:spPr>
          <a:xfrm>
            <a:off x="3840480" y="4480560"/>
            <a:ext cx="1463040" cy="1463040"/>
          </a:xfrm>
          <a:prstGeom prst="ellipse">
            <a:avLst/>
          </a:prstGeom>
          <a:solidFill>
            <a:srgbClr val="EEE9DF">
              <a:alpha val="12000"/>
            </a:srgbClr>
          </a:solidFill>
          <a:ln>
            <a:noFill/>
          </a:ln>
          <a:effectLst>
            <a:softEdge rad="36576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2600" b="1" lang="zh-TW">
                <a:solidFill>
                  <a:srgbClr val="EEE9DF"/>
                </a:solidFill>
                <a:effectLst>
                  <a:outerShdw blurRad="50800" dist="19050" dir="5400000" algn="ctr" rotWithShape="0">
                    <a:srgbClr val="000000">
                      <a:alpha val="35000"/>
                    </a:srgbClr>
                  </a:outerShdw>
                </a:effectLst>
                <a:latin typeface="Noto Sans TC"/>
                <a:ea typeface="Noto Sans TC"/>
                <a:cs typeface="Noto Sans TC"/>
              </a:rPr>
              <a:t>直接叫模型產設定檔，會碰到三個問題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JEV 智慧化產製儀表板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5720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r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2560320" cy="2651760"/>
          </a:xfrm>
          <a:prstGeom prst="roundRect">
            <a:avLst>
              <a:gd name="adj" fmla="val 4285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600" b="1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結果不可重現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97480"/>
            <a:ext cx="21031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>
              <a:lnSpc>
                <a:spcPts val="1820"/>
              </a:lnSpc>
            </a:pPr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同一份資料問兩次，可能拿到兩份不同的設定檔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463040"/>
            <a:ext cx="2560320" cy="2651760"/>
          </a:xfrm>
          <a:prstGeom prst="roundRect">
            <a:avLst>
              <a:gd name="adj" fmla="val 4285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6916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600" b="1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1945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畫出不合理的圖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697480"/>
            <a:ext cx="21031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>
              <a:lnSpc>
                <a:spcPts val="1820"/>
              </a:lnSpc>
            </a:pPr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例如把兩個分類欄位硬湊成散佈圖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463040"/>
            <a:ext cx="2560320" cy="2651760"/>
          </a:xfrm>
          <a:prstGeom prst="roundRect">
            <a:avLst>
              <a:gd name="adj" fmla="val 4285"/>
            </a:avLst>
          </a:prstGeom>
          <a:solidFill>
            <a:srgbClr val="2C3B4D">
              <a:alpha val="85000"/>
            </a:srgbClr>
          </a:solidFill>
          <a:ln w="15875">
            <a:solidFill>
              <a:srgbClr val="FFB162"/>
            </a:solidFill>
          </a:ln>
          <a:effectLst>
            <a:glow rad="101600">
              <a:srgbClr val="FFB162">
                <a:alpha val="45000"/>
              </a:srgbClr>
            </a:glow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6916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600" b="1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1945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題目塞不進一次請求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697480"/>
            <a:ext cx="21031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>
              <a:lnSpc>
                <a:spcPts val="1820"/>
              </a:lnSpc>
            </a:pPr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50 個欄位兩兩配對就有 1225 組，很容易超過 64k token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"/>
                            </p:stCondLst>
                            <p:childTnLst>
                              <p:par>
                                <p:cTn id="58" presetID="32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59" dur="4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60" dur="80" fill="hold">
                                          <p:stCondLst>
                                            <p:cond delay="8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61" dur="80" fill="hold">
                                          <p:stCondLst>
                                            <p:cond delay="16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62" dur="80" fill="hold">
                                          <p:stCondLst>
                                            <p:cond delay="24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63" dur="80" fill="hold">
                                          <p:stCondLst>
                                            <p:cond delay="32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16" grpId="1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2632"/>
            </a:gs>
            <a:gs pos="100000">
              <a:srgbClr val="2C3B4D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orb-orange"/>
          <p:cNvSpPr/>
          <p:nvPr/>
        </p:nvSpPr>
        <p:spPr>
          <a:xfrm>
            <a:off x="-1371600" y="3291839"/>
            <a:ext cx="3108960" cy="3108960"/>
          </a:xfrm>
          <a:prstGeom prst="ellipse">
            <a:avLst/>
          </a:prstGeom>
          <a:solidFill>
            <a:srgbClr val="FFB162">
              <a:alpha val="35000"/>
            </a:srgbClr>
          </a:solidFill>
          <a:ln>
            <a:noFill/>
          </a:ln>
          <a:effectLst>
            <a:softEdge rad="77724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!!orb-rust"/>
          <p:cNvSpPr/>
          <p:nvPr/>
        </p:nvSpPr>
        <p:spPr>
          <a:xfrm>
            <a:off x="7315200" y="-1463040"/>
            <a:ext cx="3291840" cy="3291840"/>
          </a:xfrm>
          <a:prstGeom prst="ellipse">
            <a:avLst/>
          </a:prstGeom>
          <a:solidFill>
            <a:srgbClr val="A35139">
              <a:alpha val="55000"/>
            </a:srgbClr>
          </a:solidFill>
          <a:ln>
            <a:noFill/>
          </a:ln>
          <a:effectLst>
            <a:softEdge rad="82296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" name="!!orb-cream"/>
          <p:cNvSpPr/>
          <p:nvPr/>
        </p:nvSpPr>
        <p:spPr>
          <a:xfrm>
            <a:off x="3931920" y="-640080"/>
            <a:ext cx="1280160" cy="1280160"/>
          </a:xfrm>
          <a:prstGeom prst="ellipse">
            <a:avLst/>
          </a:prstGeom>
          <a:solidFill>
            <a:srgbClr val="EEE9DF">
              <a:alpha val="12000"/>
            </a:srgbClr>
          </a:solidFill>
          <a:ln>
            <a:noFill/>
          </a:ln>
          <a:effectLst>
            <a:softEdge rad="32004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2600" b="1" lang="zh-TW">
                <a:solidFill>
                  <a:srgbClr val="EEE9DF"/>
                </a:solidFill>
                <a:effectLst>
                  <a:outerShdw blurRad="50800" dist="19050" dir="5400000" algn="ctr" rotWithShape="0">
                    <a:srgbClr val="000000">
                      <a:alpha val="35000"/>
                    </a:srgbClr>
                  </a:outerShdw>
                </a:effectLst>
                <a:latin typeface="Noto Sans TC"/>
                <a:ea typeface="Noto Sans TC"/>
                <a:cs typeface="Noto Sans TC"/>
              </a:rPr>
              <a:t>JEV 只回答題目，合法性、彙總和版面都由後端決定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JEV 智慧化產製儀表板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5720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r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3977639" cy="2514600"/>
          </a:xfrm>
          <a:prstGeom prst="roundRect">
            <a:avLst>
              <a:gd name="adj" fmla="val 4363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600" b="1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JEV 判斷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240279"/>
            <a:ext cx="91440" cy="91440"/>
          </a:xfrm>
          <a:prstGeom prst="ellipse">
            <a:avLst/>
          </a:prstGeom>
          <a:solidFill>
            <a:srgbClr val="FFB1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欄位重不重要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679191"/>
            <a:ext cx="91440" cy="91440"/>
          </a:xfrm>
          <a:prstGeom prst="ellipse">
            <a:avLst/>
          </a:prstGeom>
          <a:solidFill>
            <a:srgbClr val="FFB1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5420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欄位扮演什麼角色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118103"/>
            <a:ext cx="91440" cy="91440"/>
          </a:xfrm>
          <a:prstGeom prst="ellipse">
            <a:avLst/>
          </a:prstGeom>
          <a:solidFill>
            <a:srgbClr val="FFB1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8094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這組欄位該畫哪種圖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557015"/>
            <a:ext cx="91440" cy="91440"/>
          </a:xfrm>
          <a:prstGeom prst="ellipse">
            <a:avLst/>
          </a:prstGeom>
          <a:solidFill>
            <a:srgbClr val="FFB1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198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資料有沒有異常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9160" y="1417320"/>
            <a:ext cx="3977639" cy="2514600"/>
          </a:xfrm>
          <a:prstGeom prst="roundRect">
            <a:avLst>
              <a:gd name="adj" fmla="val 4363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3480" y="16002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後端規則決定</a:t>
            </a:r>
          </a:p>
        </p:txBody>
      </p:sp>
      <p:sp>
        <p:nvSpPr>
          <p:cNvPr id="20" name="Oval 19"/>
          <p:cNvSpPr/>
          <p:nvPr/>
        </p:nvSpPr>
        <p:spPr>
          <a:xfrm>
            <a:off x="4983480" y="2240279"/>
            <a:ext cx="91440" cy="91440"/>
          </a:xfrm>
          <a:prstGeom prst="ellipse">
            <a:avLst/>
          </a:prstGeom>
          <a:solidFill>
            <a:srgbClr val="C9C1B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6360" y="2103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哪些圖表組合合法</a:t>
            </a:r>
          </a:p>
        </p:txBody>
      </p:sp>
      <p:sp>
        <p:nvSpPr>
          <p:cNvPr id="22" name="Oval 21"/>
          <p:cNvSpPr/>
          <p:nvPr/>
        </p:nvSpPr>
        <p:spPr>
          <a:xfrm>
            <a:off x="4983480" y="2679191"/>
            <a:ext cx="91440" cy="91440"/>
          </a:xfrm>
          <a:prstGeom prst="ellipse">
            <a:avLst/>
          </a:prstGeom>
          <a:solidFill>
            <a:srgbClr val="C9C1B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25420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資料怎麼彙總</a:t>
            </a:r>
          </a:p>
        </p:txBody>
      </p:sp>
      <p:sp>
        <p:nvSpPr>
          <p:cNvPr id="24" name="Oval 23"/>
          <p:cNvSpPr/>
          <p:nvPr/>
        </p:nvSpPr>
        <p:spPr>
          <a:xfrm>
            <a:off x="4983480" y="3118103"/>
            <a:ext cx="91440" cy="91440"/>
          </a:xfrm>
          <a:prstGeom prst="ellipse">
            <a:avLst/>
          </a:prstGeom>
          <a:solidFill>
            <a:srgbClr val="C9C1B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66360" y="298094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mapping 和版面怎麼排</a:t>
            </a:r>
          </a:p>
        </p:txBody>
      </p:sp>
      <p:sp>
        <p:nvSpPr>
          <p:cNvPr id="26" name="Oval 25"/>
          <p:cNvSpPr/>
          <p:nvPr/>
        </p:nvSpPr>
        <p:spPr>
          <a:xfrm>
            <a:off x="4983480" y="3557015"/>
            <a:ext cx="91440" cy="91440"/>
          </a:xfrm>
          <a:prstGeom prst="ellipse">
            <a:avLst/>
          </a:prstGeom>
          <a:solidFill>
            <a:srgbClr val="C9C1B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66360" y="34198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答案要不要採用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1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同一份資料加同一組答案，永遠組出同一份設定檔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400"/>
                            </p:stCondLst>
                            <p:childTnLst>
                              <p:par>
                                <p:cTn id="75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400" tmFilter="0, 0; .2, .5; .8, .5; 1, 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7" dur="20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8" grpId="1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2632"/>
            </a:gs>
            <a:gs pos="100000">
              <a:srgbClr val="2C3B4D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orb-orange"/>
          <p:cNvSpPr/>
          <p:nvPr/>
        </p:nvSpPr>
        <p:spPr>
          <a:xfrm>
            <a:off x="2743200" y="3657600"/>
            <a:ext cx="3657600" cy="3657600"/>
          </a:xfrm>
          <a:prstGeom prst="ellipse">
            <a:avLst/>
          </a:prstGeom>
          <a:solidFill>
            <a:srgbClr val="FFB162">
              <a:alpha val="35000"/>
            </a:srgbClr>
          </a:solidFill>
          <a:ln>
            <a:noFill/>
          </a:ln>
          <a:effectLst>
            <a:softEdge rad="91440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!!orb-rust"/>
          <p:cNvSpPr/>
          <p:nvPr/>
        </p:nvSpPr>
        <p:spPr>
          <a:xfrm>
            <a:off x="-1554480" y="1188719"/>
            <a:ext cx="2743200" cy="2743200"/>
          </a:xfrm>
          <a:prstGeom prst="ellipse">
            <a:avLst/>
          </a:prstGeom>
          <a:solidFill>
            <a:srgbClr val="A35139">
              <a:alpha val="55000"/>
            </a:srgbClr>
          </a:solidFill>
          <a:ln>
            <a:noFill/>
          </a:ln>
          <a:effectLst>
            <a:softEdge rad="68580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" name="!!orb-cream"/>
          <p:cNvSpPr/>
          <p:nvPr/>
        </p:nvSpPr>
        <p:spPr>
          <a:xfrm>
            <a:off x="8321040" y="1737360"/>
            <a:ext cx="1645920" cy="1645920"/>
          </a:xfrm>
          <a:prstGeom prst="ellipse">
            <a:avLst/>
          </a:prstGeom>
          <a:solidFill>
            <a:srgbClr val="EEE9DF">
              <a:alpha val="12000"/>
            </a:srgbClr>
          </a:solidFill>
          <a:ln>
            <a:noFill/>
          </a:ln>
          <a:effectLst>
            <a:softEdge rad="41148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2600" b="1" lang="zh-TW">
                <a:solidFill>
                  <a:srgbClr val="EEE9DF"/>
                </a:solidFill>
                <a:effectLst>
                  <a:outerShdw blurRad="50800" dist="19050" dir="5400000" algn="ctr" rotWithShape="0">
                    <a:srgbClr val="000000">
                      <a:alpha val="35000"/>
                    </a:srgbClr>
                  </a:outerShdw>
                </a:effectLst>
                <a:latin typeface="Noto Sans TC"/>
                <a:ea typeface="Noto Sans TC"/>
                <a:cs typeface="Noto Sans TC"/>
              </a:rPr>
              <a:t>八個步驟裡，JEV 只出現在三步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JEV 智慧化產製儀表板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5720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r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1737360" cy="731520"/>
          </a:xfrm>
          <a:prstGeom prst="roundRect">
            <a:avLst>
              <a:gd name="adj" fmla="val 15000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 wrap="square" lIns="54864" rIns="54864" tIns="54864" bIns="54864">
            <a:noAutofit/>
          </a:bodyPr>
          <a:lstStyle/>
          <a:p>
            <a:pPr algn="ctr" hangingPunct="1"/>
            <a:r>
              <a:rPr sz="1050" b="0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01</a:t>
            </a:r>
          </a:p>
          <a:p>
            <a:pPr hangingPunct="1" algn="ctr"/>
            <a:r>
              <a:rPr sz="13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資料接入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584" y="1508760"/>
            <a:ext cx="1737360" cy="731520"/>
          </a:xfrm>
          <a:prstGeom prst="roundRect">
            <a:avLst>
              <a:gd name="adj" fmla="val 15000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 wrap="square" lIns="54864" rIns="54864" tIns="54864" bIns="54864">
            <a:noAutofit/>
          </a:bodyPr>
          <a:lstStyle/>
          <a:p>
            <a:pPr algn="ctr" hangingPunct="1"/>
            <a:r>
              <a:rPr sz="1050" b="0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02</a:t>
            </a:r>
          </a:p>
          <a:p>
            <a:pPr hangingPunct="1" algn="ctr"/>
            <a:r>
              <a:rPr sz="13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型別推斷</a:t>
            </a:r>
          </a:p>
        </p:txBody>
      </p:sp>
      <p:sp>
        <p:nvSpPr>
          <p:cNvPr id="10" name="Rounded Rectangle 9">
            <a:hlinkClick action="ppaction://hlinksldjump" r:id="rId3"/>
          </p:cNvPr>
          <p:cNvSpPr/>
          <p:nvPr/>
        </p:nvSpPr>
        <p:spPr>
          <a:xfrm>
            <a:off x="4785055" y="1508760"/>
            <a:ext cx="1737360" cy="731520"/>
          </a:xfrm>
          <a:prstGeom prst="roundRect">
            <a:avLst>
              <a:gd name="adj" fmla="val 15000"/>
            </a:avLst>
          </a:prstGeom>
          <a:solidFill>
            <a:srgbClr val="2C3B4D">
              <a:alpha val="85000"/>
            </a:srgbClr>
          </a:solidFill>
          <a:ln w="15875">
            <a:solidFill>
              <a:srgbClr val="FFB162"/>
            </a:solidFill>
          </a:ln>
          <a:effectLst>
            <a:glow rad="101600">
              <a:srgbClr val="FFB162">
                <a:alpha val="45000"/>
              </a:srgbClr>
            </a:glow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 wrap="square" lIns="54864" rIns="54864" tIns="54864" bIns="54864">
            <a:noAutofit/>
          </a:bodyPr>
          <a:lstStyle/>
          <a:p>
            <a:pPr algn="ctr" hangingPunct="1"/>
            <a:r>
              <a:rPr sz="1050" b="0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03</a:t>
            </a:r>
          </a:p>
          <a:p>
            <a:pPr hangingPunct="1" algn="ctr"/>
            <a:r>
              <a:rPr sz="13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第一輪：欄位評估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949440" y="1508760"/>
            <a:ext cx="1737360" cy="731520"/>
          </a:xfrm>
          <a:prstGeom prst="roundRect">
            <a:avLst>
              <a:gd name="adj" fmla="val 15000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 wrap="square" lIns="54864" rIns="54864" tIns="54864" bIns="54864">
            <a:noAutofit/>
          </a:bodyPr>
          <a:lstStyle/>
          <a:p>
            <a:pPr algn="ctr" hangingPunct="1"/>
            <a:r>
              <a:rPr sz="1050" b="0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04</a:t>
            </a:r>
          </a:p>
          <a:p>
            <a:pPr hangingPunct="1" algn="ctr"/>
            <a:r>
              <a:rPr sz="13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候選與合法組合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949440" y="2971800"/>
            <a:ext cx="1737360" cy="731520"/>
          </a:xfrm>
          <a:prstGeom prst="roundRect">
            <a:avLst>
              <a:gd name="adj" fmla="val 15000"/>
            </a:avLst>
          </a:prstGeom>
          <a:solidFill>
            <a:srgbClr val="2C3B4D">
              <a:alpha val="85000"/>
            </a:srgbClr>
          </a:solidFill>
          <a:ln w="15875">
            <a:solidFill>
              <a:srgbClr val="FFB162"/>
            </a:solidFill>
          </a:ln>
          <a:effectLst>
            <a:glow rad="101600">
              <a:srgbClr val="FFB162">
                <a:alpha val="45000"/>
              </a:srgbClr>
            </a:glow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 wrap="square" lIns="54864" rIns="54864" tIns="54864" bIns="54864">
            <a:noAutofit/>
          </a:bodyPr>
          <a:lstStyle/>
          <a:p>
            <a:pPr algn="ctr" hangingPunct="1"/>
            <a:r>
              <a:rPr sz="1050" b="0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05</a:t>
            </a:r>
          </a:p>
          <a:p>
            <a:pPr hangingPunct="1" algn="ctr"/>
            <a:r>
              <a:rPr sz="13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第二輪：選圖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85055" y="2971800"/>
            <a:ext cx="1737360" cy="731520"/>
          </a:xfrm>
          <a:prstGeom prst="roundRect">
            <a:avLst>
              <a:gd name="adj" fmla="val 15000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 wrap="square" lIns="54864" rIns="54864" tIns="54864" bIns="54864">
            <a:noAutofit/>
          </a:bodyPr>
          <a:lstStyle/>
          <a:p>
            <a:pPr algn="ctr" hangingPunct="1"/>
            <a:r>
              <a:rPr sz="1050" b="0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06</a:t>
            </a:r>
          </a:p>
          <a:p>
            <a:pPr hangingPunct="1" algn="ctr"/>
            <a:r>
              <a:rPr sz="13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組裝 mapping</a:t>
            </a:r>
            <a:br/>
            <a:r>
              <a:rPr sz="13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與版面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1584" y="2971800"/>
            <a:ext cx="1737360" cy="731520"/>
          </a:xfrm>
          <a:prstGeom prst="roundRect">
            <a:avLst>
              <a:gd name="adj" fmla="val 15000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 wrap="square" lIns="54864" rIns="54864" tIns="54864" bIns="54864">
            <a:noAutofit/>
          </a:bodyPr>
          <a:lstStyle/>
          <a:p>
            <a:pPr algn="ctr" hangingPunct="1"/>
            <a:r>
              <a:rPr sz="1050" b="0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07</a:t>
            </a:r>
          </a:p>
          <a:p>
            <a:pPr hangingPunct="1" algn="ctr"/>
            <a:r>
              <a:rPr sz="13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預覽與儲存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457200" y="2971800"/>
            <a:ext cx="1737360" cy="731520"/>
          </a:xfrm>
          <a:prstGeom prst="roundRect">
            <a:avLst>
              <a:gd name="adj" fmla="val 15000"/>
            </a:avLst>
          </a:prstGeom>
          <a:solidFill>
            <a:srgbClr val="2C3B4D">
              <a:alpha val="85000"/>
            </a:srgbClr>
          </a:solidFill>
          <a:ln w="15875">
            <a:solidFill>
              <a:srgbClr val="FFB162"/>
            </a:solidFill>
          </a:ln>
          <a:effectLst>
            <a:glow rad="101600">
              <a:srgbClr val="FFB162">
                <a:alpha val="45000"/>
              </a:srgbClr>
            </a:glow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 wrap="square" lIns="54864" rIns="54864" tIns="54864" bIns="54864">
            <a:noAutofit/>
          </a:bodyPr>
          <a:lstStyle/>
          <a:p>
            <a:pPr algn="ctr" hangingPunct="1"/>
            <a:r>
              <a:rPr sz="1050" b="0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08</a:t>
            </a:r>
          </a:p>
          <a:p>
            <a:pPr hangingPunct="1" algn="ctr"/>
            <a:r>
              <a:rPr sz="13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載入時異常檢查</a:t>
            </a:r>
          </a:p>
        </p:txBody>
      </p:sp>
      <p:cxnSp>
        <p:nvCxnSpPr>
          <p:cNvPr id="16" name="Connector 15"/>
          <p:cNvCxnSpPr>
            <a:stCxn id="8" idx="3"/>
            <a:endCxn id="9" idx="1"/>
          </p:cNvCxnSpPr>
          <p:nvPr/>
        </p:nvCxnSpPr>
        <p:spPr>
          <a:xfrm flipV="1">
            <a:off x="2194560" y="1874520"/>
            <a:ext cx="427024" cy="0"/>
          </a:xfrm>
          <a:prstGeom prst="line">
            <a:avLst/>
          </a:prstGeom>
          <a:ln w="15875">
            <a:solidFill>
              <a:srgbClr val="C9C1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9" idx="3"/>
            <a:endCxn id="10" idx="1"/>
          </p:cNvCxnSpPr>
          <p:nvPr/>
        </p:nvCxnSpPr>
        <p:spPr>
          <a:xfrm flipV="1">
            <a:off x="4358944" y="1874520"/>
            <a:ext cx="426111" cy="0"/>
          </a:xfrm>
          <a:prstGeom prst="line">
            <a:avLst/>
          </a:prstGeom>
          <a:ln w="15875">
            <a:solidFill>
              <a:srgbClr val="C9C1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10" idx="3"/>
            <a:endCxn id="11" idx="1"/>
          </p:cNvCxnSpPr>
          <p:nvPr/>
        </p:nvCxnSpPr>
        <p:spPr>
          <a:xfrm flipV="1">
            <a:off x="6522415" y="1874520"/>
            <a:ext cx="427025" cy="0"/>
          </a:xfrm>
          <a:prstGeom prst="line">
            <a:avLst/>
          </a:prstGeom>
          <a:ln w="15875">
            <a:solidFill>
              <a:srgbClr val="C9C1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2"/>
            <a:endCxn id="12" idx="0"/>
          </p:cNvCxnSpPr>
          <p:nvPr/>
        </p:nvCxnSpPr>
        <p:spPr>
          <a:xfrm flipH="1">
            <a:off x="7818120" y="2240280"/>
            <a:ext cx="0" cy="731520"/>
          </a:xfrm>
          <a:prstGeom prst="line">
            <a:avLst/>
          </a:prstGeom>
          <a:ln w="15875">
            <a:solidFill>
              <a:srgbClr val="C9C1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1"/>
            <a:endCxn id="13" idx="3"/>
          </p:cNvCxnSpPr>
          <p:nvPr/>
        </p:nvCxnSpPr>
        <p:spPr>
          <a:xfrm flipH="1" flipV="1">
            <a:off x="6522415" y="3337560"/>
            <a:ext cx="427025" cy="0"/>
          </a:xfrm>
          <a:prstGeom prst="line">
            <a:avLst/>
          </a:prstGeom>
          <a:ln w="15875">
            <a:solidFill>
              <a:srgbClr val="C9C1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3" idx="1"/>
            <a:endCxn id="14" idx="3"/>
          </p:cNvCxnSpPr>
          <p:nvPr/>
        </p:nvCxnSpPr>
        <p:spPr>
          <a:xfrm flipH="1" flipV="1">
            <a:off x="4358944" y="3337560"/>
            <a:ext cx="426111" cy="0"/>
          </a:xfrm>
          <a:prstGeom prst="line">
            <a:avLst/>
          </a:prstGeom>
          <a:ln w="15875">
            <a:solidFill>
              <a:srgbClr val="C9C1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4" idx="1"/>
            <a:endCxn id="15" idx="3"/>
          </p:cNvCxnSpPr>
          <p:nvPr/>
        </p:nvCxnSpPr>
        <p:spPr>
          <a:xfrm flipH="1" flipV="1">
            <a:off x="2194560" y="3337560"/>
            <a:ext cx="427024" cy="0"/>
          </a:xfrm>
          <a:prstGeom prst="line">
            <a:avLst/>
          </a:prstGeom>
          <a:ln w="15875">
            <a:solidFill>
              <a:srgbClr val="C9C1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亮色是 JEV 回答的步驟，其他步驟都由後端程式處理</a:t>
            </a:r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7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6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200"/>
                            </p:stCondLst>
                            <p:childTnLst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4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1" dur="20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4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4" dur="20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400" tmFilter="0, 0; .2, .5; .8, .5; 1, 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20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0" grpId="1" animBg="1"/>
      <p:bldP spid="12" grpId="1" animBg="1"/>
      <p:bldP spid="15" grpId="1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2632"/>
            </a:gs>
            <a:gs pos="100000">
              <a:srgbClr val="2C3B4D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orb-orange"/>
          <p:cNvSpPr/>
          <p:nvPr/>
        </p:nvSpPr>
        <p:spPr>
          <a:xfrm>
            <a:off x="7498080" y="-1005840"/>
            <a:ext cx="3108960" cy="3108960"/>
          </a:xfrm>
          <a:prstGeom prst="ellipse">
            <a:avLst/>
          </a:prstGeom>
          <a:solidFill>
            <a:srgbClr val="FFB162">
              <a:alpha val="35000"/>
            </a:srgbClr>
          </a:solidFill>
          <a:ln>
            <a:noFill/>
          </a:ln>
          <a:effectLst>
            <a:softEdge rad="77724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!!orb-rust"/>
          <p:cNvSpPr/>
          <p:nvPr/>
        </p:nvSpPr>
        <p:spPr>
          <a:xfrm>
            <a:off x="2834639" y="4114800"/>
            <a:ext cx="2743200" cy="2743200"/>
          </a:xfrm>
          <a:prstGeom prst="ellipse">
            <a:avLst/>
          </a:prstGeom>
          <a:solidFill>
            <a:srgbClr val="A35139">
              <a:alpha val="55000"/>
            </a:srgbClr>
          </a:solidFill>
          <a:ln>
            <a:noFill/>
          </a:ln>
          <a:effectLst>
            <a:softEdge rad="68580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" name="!!orb-cream"/>
          <p:cNvSpPr/>
          <p:nvPr/>
        </p:nvSpPr>
        <p:spPr>
          <a:xfrm>
            <a:off x="-731520" y="-365760"/>
            <a:ext cx="1463040" cy="1463040"/>
          </a:xfrm>
          <a:prstGeom prst="ellipse">
            <a:avLst/>
          </a:prstGeom>
          <a:solidFill>
            <a:srgbClr val="EEE9DF">
              <a:alpha val="12000"/>
            </a:srgbClr>
          </a:solidFill>
          <a:ln>
            <a:noFill/>
          </a:ln>
          <a:effectLst>
            <a:softEdge rad="36576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2600" b="1" lang="zh-TW">
                <a:solidFill>
                  <a:srgbClr val="EEE9DF"/>
                </a:solidFill>
                <a:effectLst>
                  <a:outerShdw blurRad="50800" dist="19050" dir="5400000" algn="ctr" rotWithShape="0">
                    <a:srgbClr val="000000">
                      <a:alpha val="35000"/>
                    </a:srgbClr>
                  </a:outerShdw>
                </a:effectLst>
                <a:latin typeface="Noto Sans TC"/>
                <a:ea typeface="Noto Sans TC"/>
                <a:cs typeface="Noto Sans TC"/>
              </a:rPr>
              <a:t>第一輪每個欄位問兩題，JEV 回的是分數和選項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JEV 智慧化產製儀表板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5720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r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5212080" cy="1691640"/>
          </a:xfrm>
          <a:prstGeom prst="roundRect">
            <a:avLst>
              <a:gd name="adj" fmla="val 6486"/>
            </a:avLst>
          </a:prstGeom>
          <a:solidFill>
            <a:srgbClr val="111921">
              <a:alpha val="55000"/>
            </a:srgbClr>
          </a:solidFill>
          <a:ln w="9525">
            <a:solidFill>
              <a:srgbClr val="EEE9DF">
                <a:alpha val="2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0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484632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100" b="0" lang="zh-TW">
                <a:solidFill>
                  <a:srgbClr val="EEE9DF"/>
                </a:solidFill>
                <a:latin typeface="Consolas"/>
                <a:ea typeface="Noto Sans TC"/>
                <a:cs typeface="Consolas"/>
              </a:rPr>
              <a:t>"imp_2": {</a:t>
            </a:r>
          </a:p>
          <a:p>
            <a:pPr hangingPunct="1"/>
            <a:r>
              <a:rPr sz="1100" b="0" lang="zh-TW">
                <a:solidFill>
                  <a:srgbClr val="EEE9DF"/>
                </a:solidFill>
                <a:latin typeface="Consolas"/>
                <a:ea typeface="Noto Sans TC"/>
                <a:cs typeface="Consolas"/>
              </a:rPr>
              <a:t>  "type": "score",</a:t>
            </a:r>
          </a:p>
          <a:p>
            <a:pPr hangingPunct="1"/>
            <a:r>
              <a:rPr sz="1100" b="0" lang="zh-TW">
                <a:solidFill>
                  <a:srgbClr val="EEE9DF"/>
                </a:solidFill>
                <a:latin typeface="Consolas"/>
                <a:ea typeface="Noto Sans TC"/>
                <a:cs typeface="Consolas"/>
              </a:rPr>
              <a:t>  "criteria": ["不重要，略過", "次要", "重要", "核心指標"] }</a:t>
            </a:r>
          </a:p>
          <a:p>
            <a:pPr hangingPunct="1"/>
            <a:r>
              <a:rPr sz="1100" b="0" lang="zh-TW">
                <a:solidFill>
                  <a:srgbClr val="EEE9DF"/>
                </a:solidFill>
                <a:latin typeface="Consolas"/>
                <a:ea typeface="Noto Sans TC"/>
                <a:cs typeface="Consolas"/>
              </a:rPr>
              <a:t>"role_2": {</a:t>
            </a:r>
          </a:p>
          <a:p>
            <a:pPr hangingPunct="1"/>
            <a:r>
              <a:rPr sz="1100" b="0" lang="zh-TW">
                <a:solidFill>
                  <a:srgbClr val="EEE9DF"/>
                </a:solidFill>
                <a:latin typeface="Consolas"/>
                <a:ea typeface="Noto Sans TC"/>
                <a:cs typeface="Consolas"/>
              </a:rPr>
              <a:t>  "type": "choice",</a:t>
            </a:r>
          </a:p>
          <a:p>
            <a:pPr hangingPunct="1"/>
            <a:r>
              <a:rPr sz="1100" b="0" lang="zh-TW">
                <a:solidFill>
                  <a:srgbClr val="EEE9DF"/>
                </a:solidFill>
                <a:latin typeface="Consolas"/>
                <a:ea typeface="Noto Sans TC"/>
                <a:cs typeface="Consolas"/>
              </a:rPr>
              <a:t>  "criteria": { "dimension": …, "measure": …,</a:t>
            </a:r>
          </a:p>
          <a:p>
            <a:pPr hangingPunct="1"/>
            <a:r>
              <a:rPr sz="1100" b="0" lang="zh-TW">
                <a:solidFill>
                  <a:srgbClr val="EEE9DF"/>
                </a:solidFill>
                <a:latin typeface="Consolas"/>
                <a:ea typeface="Noto Sans TC"/>
                <a:cs typeface="Consolas"/>
              </a:rPr>
              <a:t>                "time": …, "ignore": … } 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91840"/>
            <a:ext cx="5212080" cy="1143000"/>
          </a:xfrm>
          <a:prstGeom prst="roundRect">
            <a:avLst>
              <a:gd name="adj" fmla="val 9600"/>
            </a:avLst>
          </a:prstGeom>
          <a:solidFill>
            <a:srgbClr val="111921">
              <a:alpha val="55000"/>
            </a:srgbClr>
          </a:solidFill>
          <a:ln w="9525">
            <a:solidFill>
              <a:srgbClr val="EEE9DF">
                <a:alpha val="2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832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0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100" b="0" lang="zh-TW">
                <a:solidFill>
                  <a:srgbClr val="EEE9DF"/>
                </a:solidFill>
                <a:latin typeface="Consolas"/>
                <a:ea typeface="Noto Sans TC"/>
                <a:cs typeface="Consolas"/>
              </a:rPr>
              <a:t>"imp_2":  { "type": "score", "score": 3.0 }</a:t>
            </a:r>
          </a:p>
          <a:p>
            <a:pPr hangingPunct="1"/>
            <a:r>
              <a:rPr sz="1100" b="0" lang="zh-TW">
                <a:solidFill>
                  <a:srgbClr val="EEE9DF"/>
                </a:solidFill>
                <a:latin typeface="Consolas"/>
                <a:ea typeface="Noto Sans TC"/>
                <a:cs typeface="Consolas"/>
              </a:rPr>
              <a:t>"role_2": { "type": "choice", "choice": "measure",</a:t>
            </a:r>
          </a:p>
          <a:p>
            <a:pPr hangingPunct="1"/>
            <a:r>
              <a:rPr sz="1100" b="0" lang="zh-TW">
                <a:solidFill>
                  <a:srgbClr val="EEE9DF"/>
                </a:solidFill>
                <a:latin typeface="Consolas"/>
                <a:ea typeface="Noto Sans TC"/>
                <a:cs typeface="Consolas"/>
              </a:rPr>
              <a:t>            "confidence": 0.97 }</a:t>
            </a:r>
          </a:p>
        </p:txBody>
      </p:sp>
      <p:sp>
        <p:nvSpPr>
          <p:cNvPr id="14" name="Oval 13"/>
          <p:cNvSpPr/>
          <p:nvPr/>
        </p:nvSpPr>
        <p:spPr>
          <a:xfrm>
            <a:off x="2999232" y="3044952"/>
            <a:ext cx="128016" cy="128016"/>
          </a:xfrm>
          <a:prstGeom prst="ellipse">
            <a:avLst/>
          </a:prstGeom>
          <a:solidFill>
            <a:srgbClr val="FFB162"/>
          </a:solidFill>
          <a:ln>
            <a:noFill/>
          </a:ln>
          <a:effectLst>
            <a:glow rad="76200">
              <a:srgbClr val="FFB162">
                <a:alpha val="6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0" y="1463040"/>
            <a:ext cx="329184" cy="329184"/>
          </a:xfrm>
          <a:prstGeom prst="ellipse">
            <a:avLst/>
          </a:prstGeom>
          <a:noFill/>
          <a:ln w="15875">
            <a:solidFill>
              <a:srgbClr val="FFB162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 hangingPunct="1"/>
            <a:r>
              <a:rPr sz="1050" b="1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417320"/>
            <a:ext cx="2286000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key 用索引 imp_2，不用欄位名稱，中文和符號不會出錯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0" y="2423160"/>
            <a:ext cx="329184" cy="329184"/>
          </a:xfrm>
          <a:prstGeom prst="ellipse">
            <a:avLst/>
          </a:prstGeom>
          <a:noFill/>
          <a:ln w="15875">
            <a:solidFill>
              <a:srgbClr val="FFB162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 hangingPunct="1"/>
            <a:r>
              <a:rPr sz="1050" b="1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77440"/>
            <a:ext cx="2286000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score 從 0 起算，4 個選項回 0 到 3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0" y="3383280"/>
            <a:ext cx="329184" cy="329184"/>
          </a:xfrm>
          <a:prstGeom prst="ellipse">
            <a:avLst/>
          </a:prstGeom>
          <a:noFill/>
          <a:ln w="15875">
            <a:solidFill>
              <a:srgbClr val="FFB162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 hangingPunct="1"/>
            <a:r>
              <a:rPr sz="1050" b="1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337560"/>
            <a:ext cx="2286000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另問一題 chart_count，換算要畫幾張圖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0 0.03556 E" pathEditMode="relative" rAng="0" ptsTypes="AA">
                                      <p:cBhvr>
                                        <p:cTn id="19" dur="8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200"/>
                            </p:stCondLst>
                            <p:childTnLst>
                              <p:par>
                                <p:cTn id="31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4" grpId="0" animBg="1"/>
      <p:bldP spid="14" grpId="1" animBg="1"/>
      <p:bldP spid="11" grpId="0" animBg="1"/>
      <p:bldP spid="12" grpId="0" animBg="1"/>
      <p:bldP spid="13" grpId="0" animBg="1"/>
      <p:bldP spid="14" grpId="2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2632"/>
            </a:gs>
            <a:gs pos="100000">
              <a:srgbClr val="2C3B4D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orb-orange"/>
          <p:cNvSpPr/>
          <p:nvPr/>
        </p:nvSpPr>
        <p:spPr>
          <a:xfrm>
            <a:off x="-1463040" y="-1280160"/>
            <a:ext cx="2926080" cy="2926080"/>
          </a:xfrm>
          <a:prstGeom prst="ellipse">
            <a:avLst/>
          </a:prstGeom>
          <a:solidFill>
            <a:srgbClr val="FFB162">
              <a:alpha val="35000"/>
            </a:srgbClr>
          </a:solidFill>
          <a:ln>
            <a:noFill/>
          </a:ln>
          <a:effectLst>
            <a:softEdge rad="73152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!!orb-rust"/>
          <p:cNvSpPr/>
          <p:nvPr/>
        </p:nvSpPr>
        <p:spPr>
          <a:xfrm>
            <a:off x="7406640" y="3200400"/>
            <a:ext cx="3474720" cy="3474720"/>
          </a:xfrm>
          <a:prstGeom prst="ellipse">
            <a:avLst/>
          </a:prstGeom>
          <a:solidFill>
            <a:srgbClr val="A35139">
              <a:alpha val="55000"/>
            </a:srgbClr>
          </a:solidFill>
          <a:ln>
            <a:noFill/>
          </a:ln>
          <a:effectLst>
            <a:softEdge rad="868679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" name="!!orb-cream"/>
          <p:cNvSpPr/>
          <p:nvPr/>
        </p:nvSpPr>
        <p:spPr>
          <a:xfrm>
            <a:off x="4846320" y="4754880"/>
            <a:ext cx="1280160" cy="1280160"/>
          </a:xfrm>
          <a:prstGeom prst="ellipse">
            <a:avLst/>
          </a:prstGeom>
          <a:solidFill>
            <a:srgbClr val="EEE9DF">
              <a:alpha val="12000"/>
            </a:srgbClr>
          </a:solidFill>
          <a:ln>
            <a:noFill/>
          </a:ln>
          <a:effectLst>
            <a:softEdge rad="32004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2600" b="1" lang="zh-TW">
                <a:solidFill>
                  <a:srgbClr val="EEE9DF"/>
                </a:solidFill>
                <a:effectLst>
                  <a:outerShdw blurRad="50800" dist="19050" dir="5400000" algn="ctr" rotWithShape="0">
                    <a:srgbClr val="000000">
                      <a:alpha val="35000"/>
                    </a:srgbClr>
                  </a:outerShdw>
                </a:effectLst>
                <a:latin typeface="Noto Sans TC"/>
                <a:ea typeface="Noto Sans TC"/>
                <a:cs typeface="Noto Sans TC"/>
              </a:rPr>
              <a:t>信心不夠或型別對不上，一律當成 ignore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JEV 智慧化產製儀表板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5720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r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1463040" cy="822960"/>
          </a:xfrm>
          <a:prstGeom prst="roundRect">
            <a:avLst>
              <a:gd name="adj" fmla="val 13333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 wrap="square" lIns="54864" rIns="54864" tIns="54864" bIns="54864">
            <a:noAutofit/>
          </a:bodyPr>
          <a:lstStyle/>
          <a:p>
            <a:pPr algn="ctr"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JEV 回答角色</a:t>
            </a:r>
          </a:p>
        </p:txBody>
      </p:sp>
      <p:sp>
        <p:nvSpPr>
          <p:cNvPr id="9" name="Hexagon 8"/>
          <p:cNvSpPr/>
          <p:nvPr/>
        </p:nvSpPr>
        <p:spPr>
          <a:xfrm>
            <a:off x="2286000" y="1783080"/>
            <a:ext cx="2103120" cy="914400"/>
          </a:xfrm>
          <a:prstGeom prst="hexagon">
            <a:avLst/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 wrap="square" tIns="91440" bIns="91440">
            <a:noAutofit/>
          </a:bodyPr>
          <a:lstStyle/>
          <a:p>
            <a:pPr algn="ctr" hangingPunct="1"/>
            <a:r>
              <a:rPr sz="13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confidence 低於 0.5？</a:t>
            </a:r>
          </a:p>
        </p:txBody>
      </p:sp>
      <p:sp>
        <p:nvSpPr>
          <p:cNvPr id="10" name="Hexagon 9"/>
          <p:cNvSpPr/>
          <p:nvPr/>
        </p:nvSpPr>
        <p:spPr>
          <a:xfrm>
            <a:off x="4754880" y="1783080"/>
            <a:ext cx="2286000" cy="914400"/>
          </a:xfrm>
          <a:prstGeom prst="hexagon">
            <a:avLst/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 wrap="square" tIns="91440" bIns="91440">
            <a:noAutofit/>
          </a:bodyPr>
          <a:lstStyle/>
          <a:p>
            <a:pPr algn="ctr" hangingPunct="1"/>
            <a:r>
              <a:rPr sz="13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measure 不是數字、time 不是日期？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1828800"/>
            <a:ext cx="1371600" cy="822960"/>
          </a:xfrm>
          <a:prstGeom prst="roundRect">
            <a:avLst>
              <a:gd name="adj" fmla="val 13333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 wrap="square" lIns="54864" rIns="54864" tIns="54864" bIns="54864">
            <a:noAutofit/>
          </a:bodyPr>
          <a:lstStyle/>
          <a:p>
            <a:pPr algn="ctr"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採用這個角色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324612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2C3B4D">
              <a:alpha val="85000"/>
            </a:srgbClr>
          </a:solidFill>
          <a:ln w="15875">
            <a:solidFill>
              <a:srgbClr val="FFB162"/>
            </a:solidFill>
          </a:ln>
          <a:effectLst>
            <a:glow rad="101600">
              <a:srgbClr val="FFB162">
                <a:alpha val="45000"/>
              </a:srgbClr>
            </a:glow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 wrap="square" lIns="54864" rIns="54864" tIns="54864" bIns="54864">
            <a:noAutofit/>
          </a:bodyPr>
          <a:lstStyle/>
          <a:p>
            <a:pPr algn="ctr" hangingPunct="1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改判 ignore</a:t>
            </a:r>
          </a:p>
        </p:txBody>
      </p:sp>
      <p:cxnSp>
        <p:nvCxnSpPr>
          <p:cNvPr id="13" name="Connector 12"/>
          <p:cNvCxnSpPr>
            <a:stCxn id="8" idx="3"/>
            <a:endCxn id="9" idx="3"/>
          </p:cNvCxnSpPr>
          <p:nvPr/>
        </p:nvCxnSpPr>
        <p:spPr>
          <a:xfrm>
            <a:off x="1920240" y="2240280"/>
            <a:ext cx="365760" cy="0"/>
          </a:xfrm>
          <a:prstGeom prst="line">
            <a:avLst/>
          </a:prstGeom>
          <a:ln w="15875">
            <a:solidFill>
              <a:srgbClr val="C9C1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9" idx="0"/>
            <a:endCxn id="10" idx="3"/>
          </p:cNvCxnSpPr>
          <p:nvPr/>
        </p:nvCxnSpPr>
        <p:spPr>
          <a:xfrm>
            <a:off x="4389120" y="2240280"/>
            <a:ext cx="365760" cy="0"/>
          </a:xfrm>
          <a:prstGeom prst="line">
            <a:avLst/>
          </a:prstGeom>
          <a:ln w="15875">
            <a:solidFill>
              <a:srgbClr val="C9C1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10" idx="0"/>
            <a:endCxn id="11" idx="1"/>
          </p:cNvCxnSpPr>
          <p:nvPr/>
        </p:nvCxnSpPr>
        <p:spPr>
          <a:xfrm>
            <a:off x="7040880" y="2240280"/>
            <a:ext cx="274320" cy="0"/>
          </a:xfrm>
          <a:prstGeom prst="line">
            <a:avLst/>
          </a:prstGeom>
          <a:ln w="15875">
            <a:solidFill>
              <a:srgbClr val="C9C1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337560" y="2697480"/>
            <a:ext cx="0" cy="548640"/>
          </a:xfrm>
          <a:prstGeom prst="line">
            <a:avLst/>
          </a:prstGeom>
          <a:ln w="15875">
            <a:solidFill>
              <a:srgbClr val="C9C1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897880" y="2697480"/>
            <a:ext cx="0" cy="548640"/>
          </a:xfrm>
          <a:prstGeom prst="line">
            <a:avLst/>
          </a:prstGeom>
          <a:ln w="15875">
            <a:solidFill>
              <a:srgbClr val="C9C1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34840" y="196596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ctr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96596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ctr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2852928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ctr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852928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ctr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1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JEV 可能誤判，但文字欄位不會被拿去加總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20" grpId="0" animBg="1"/>
      <p:bldP spid="12" grpId="0" animBg="1"/>
      <p:bldP spid="18" grpId="0" animBg="1"/>
      <p:bldP spid="10" grpId="0" animBg="1"/>
      <p:bldP spid="21" grpId="0" animBg="1"/>
      <p:bldP spid="19" grpId="0" animBg="1"/>
      <p:bldP spid="11" grpId="0" animBg="1"/>
      <p:bldP spid="22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2632"/>
            </a:gs>
            <a:gs pos="100000">
              <a:srgbClr val="2C3B4D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orb-orange"/>
          <p:cNvSpPr/>
          <p:nvPr/>
        </p:nvSpPr>
        <p:spPr>
          <a:xfrm>
            <a:off x="7589519" y="1097280"/>
            <a:ext cx="3291840" cy="3291840"/>
          </a:xfrm>
          <a:prstGeom prst="ellipse">
            <a:avLst/>
          </a:prstGeom>
          <a:solidFill>
            <a:srgbClr val="FFB162">
              <a:alpha val="35000"/>
            </a:srgbClr>
          </a:solidFill>
          <a:ln>
            <a:noFill/>
          </a:ln>
          <a:effectLst>
            <a:softEdge rad="82296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!!orb-rust"/>
          <p:cNvSpPr/>
          <p:nvPr/>
        </p:nvSpPr>
        <p:spPr>
          <a:xfrm>
            <a:off x="-91440" y="4023360"/>
            <a:ext cx="2926080" cy="2926080"/>
          </a:xfrm>
          <a:prstGeom prst="ellipse">
            <a:avLst/>
          </a:prstGeom>
          <a:solidFill>
            <a:srgbClr val="A35139">
              <a:alpha val="55000"/>
            </a:srgbClr>
          </a:solidFill>
          <a:ln>
            <a:noFill/>
          </a:ln>
          <a:effectLst>
            <a:softEdge rad="73152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" name="!!orb-cream"/>
          <p:cNvSpPr/>
          <p:nvPr/>
        </p:nvSpPr>
        <p:spPr>
          <a:xfrm>
            <a:off x="3657600" y="-1005840"/>
            <a:ext cx="1463040" cy="1463040"/>
          </a:xfrm>
          <a:prstGeom prst="ellipse">
            <a:avLst/>
          </a:prstGeom>
          <a:solidFill>
            <a:srgbClr val="EEE9DF">
              <a:alpha val="12000"/>
            </a:srgbClr>
          </a:solidFill>
          <a:ln>
            <a:noFill/>
          </a:ln>
          <a:effectLst>
            <a:softEdge rad="36576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2600" b="1" lang="zh-TW">
                <a:solidFill>
                  <a:srgbClr val="EEE9DF"/>
                </a:solidFill>
                <a:effectLst>
                  <a:outerShdw blurRad="50800" dist="19050" dir="5400000" algn="ctr" rotWithShape="0">
                    <a:srgbClr val="000000">
                      <a:alpha val="35000"/>
                    </a:srgbClr>
                  </a:outerShdw>
                </a:effectLst>
                <a:latin typeface="Noto Sans TC"/>
                <a:ea typeface="Noto Sans TC"/>
                <a:cs typeface="Noto Sans TC"/>
              </a:rPr>
              <a:t>合法組合寫在表裡，表外的組合不會產生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JEV 智慧化產製儀表板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5720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r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17320"/>
          <a:ext cx="8229600" cy="283464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4572000"/>
              </a:tblGrid>
              <a:tr h="472440">
                <a:tc>
                  <a:txBody>
                    <a:bodyPr/>
                    <a:lstStyle/>
                    <a:p>
                      <a:pPr hangingPunct="1"/>
                      <a:r>
                        <a:rPr sz="1600" b="1" lang="zh-TW">
                          <a:solidFill>
                            <a:srgbClr val="1B2632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角色組合</a:t>
                      </a:r>
                    </a:p>
                  </a:txBody>
                  <a:tcPr marL="18288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EEE9DF">
                          <a:alpha val="25000"/>
                        </a:srgbClr>
                      </a:solidFill>
                    </a:lnT>
                    <a:lnB w="9525">
                      <a:solidFill>
                        <a:srgbClr val="EEE9DF">
                          <a:alpha val="25000"/>
                        </a:srgbClr>
                      </a:solidFill>
                    </a:lnB>
                    <a:solidFill>
                      <a:srgbClr val="FFB162"/>
                    </a:solidFill>
                  </a:tcPr>
                </a:tc>
                <a:tc>
                  <a:txBody>
                    <a:bodyPr/>
                    <a:lstStyle/>
                    <a:p>
                      <a:pPr hangingPunct="1"/>
                      <a:r>
                        <a:rPr sz="1600" b="1" lang="zh-TW">
                          <a:solidFill>
                            <a:srgbClr val="1B2632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能畫的圖</a:t>
                      </a:r>
                    </a:p>
                  </a:txBody>
                  <a:tcPr marL="18288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EEE9DF">
                          <a:alpha val="25000"/>
                        </a:srgbClr>
                      </a:solidFill>
                    </a:lnT>
                    <a:lnB w="9525">
                      <a:solidFill>
                        <a:srgbClr val="EEE9DF">
                          <a:alpha val="25000"/>
                        </a:srgbClr>
                      </a:solidFill>
                    </a:lnB>
                    <a:solidFill>
                      <a:srgbClr val="FFB162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hangingPunct="1"/>
                      <a:r>
                        <a:rPr sz="1400" b="0" lang="zh-TW">
                          <a:solidFill>
                            <a:srgbClr val="EEE9D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time × measure</a:t>
                      </a:r>
                    </a:p>
                  </a:txBody>
                  <a:tcPr marL="18288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EEE9DF">
                          <a:alpha val="25000"/>
                        </a:srgbClr>
                      </a:solidFill>
                    </a:lnT>
                    <a:lnB w="9525">
                      <a:solidFill>
                        <a:srgbClr val="EEE9DF">
                          <a:alpha val="25000"/>
                        </a:srgbClr>
                      </a:solidFill>
                    </a:lnB>
                    <a:solidFill>
                      <a:srgbClr val="EEE9DF">
                        <a:alpha val="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hangingPunct="1"/>
                      <a:r>
                        <a:rPr sz="1400" b="0" lang="zh-TW">
                          <a:solidFill>
                            <a:srgbClr val="EEE9D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折線圖、長條圖</a:t>
                      </a:r>
                    </a:p>
                  </a:txBody>
                  <a:tcPr marL="18288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EEE9DF">
                          <a:alpha val="25000"/>
                        </a:srgbClr>
                      </a:solidFill>
                    </a:lnT>
                    <a:lnB w="9525">
                      <a:solidFill>
                        <a:srgbClr val="EEE9DF">
                          <a:alpha val="25000"/>
                        </a:srgbClr>
                      </a:solidFill>
                    </a:lnB>
                    <a:solidFill>
                      <a:srgbClr val="EEE9DF">
                        <a:alpha val="8000"/>
                      </a:srgbClr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hangingPunct="1"/>
                      <a:r>
                        <a:rPr sz="1400" b="0" lang="zh-TW">
                          <a:solidFill>
                            <a:srgbClr val="EEE9D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dimension × measure</a:t>
                      </a:r>
                    </a:p>
                  </a:txBody>
                  <a:tcPr marL="18288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EEE9DF">
                          <a:alpha val="25000"/>
                        </a:srgbClr>
                      </a:solidFill>
                    </a:lnT>
                    <a:lnB w="9525">
                      <a:solidFill>
                        <a:srgbClr val="EEE9DF">
                          <a:alpha val="25000"/>
                        </a:srgbClr>
                      </a:solidFill>
                    </a:lnB>
                    <a:solidFill>
                      <a:srgbClr val="EEE9DF">
                        <a:alpha val="1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hangingPunct="1"/>
                      <a:r>
                        <a:rPr sz="1400" b="0" lang="zh-TW">
                          <a:solidFill>
                            <a:srgbClr val="EEE9D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長條圖、圓餅圖（相異值 ≤ 8 才有圓餅圖）</a:t>
                      </a:r>
                    </a:p>
                  </a:txBody>
                  <a:tcPr marL="18288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EEE9DF">
                          <a:alpha val="25000"/>
                        </a:srgbClr>
                      </a:solidFill>
                    </a:lnT>
                    <a:lnB w="9525">
                      <a:solidFill>
                        <a:srgbClr val="EEE9DF">
                          <a:alpha val="25000"/>
                        </a:srgbClr>
                      </a:solidFill>
                    </a:lnB>
                    <a:solidFill>
                      <a:srgbClr val="EEE9DF">
                        <a:alpha val="14000"/>
                      </a:srgbClr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hangingPunct="1"/>
                      <a:r>
                        <a:rPr sz="1400" b="0" lang="zh-TW">
                          <a:solidFill>
                            <a:srgbClr val="EEE9D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measure × measure</a:t>
                      </a:r>
                    </a:p>
                  </a:txBody>
                  <a:tcPr marL="18288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EEE9DF">
                          <a:alpha val="25000"/>
                        </a:srgbClr>
                      </a:solidFill>
                    </a:lnT>
                    <a:lnB w="9525">
                      <a:solidFill>
                        <a:srgbClr val="EEE9DF">
                          <a:alpha val="25000"/>
                        </a:srgbClr>
                      </a:solidFill>
                    </a:lnB>
                    <a:solidFill>
                      <a:srgbClr val="EEE9DF">
                        <a:alpha val="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hangingPunct="1"/>
                      <a:r>
                        <a:rPr sz="1400" b="0" lang="zh-TW">
                          <a:solidFill>
                            <a:srgbClr val="EEE9D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散佈圖</a:t>
                      </a:r>
                    </a:p>
                  </a:txBody>
                  <a:tcPr marL="18288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EEE9DF">
                          <a:alpha val="25000"/>
                        </a:srgbClr>
                      </a:solidFill>
                    </a:lnT>
                    <a:lnB w="9525">
                      <a:solidFill>
                        <a:srgbClr val="EEE9DF">
                          <a:alpha val="25000"/>
                        </a:srgbClr>
                      </a:solidFill>
                    </a:lnB>
                    <a:solidFill>
                      <a:srgbClr val="EEE9DF">
                        <a:alpha val="8000"/>
                      </a:srgbClr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hangingPunct="1"/>
                      <a:r>
                        <a:rPr sz="1400" b="0" lang="zh-TW">
                          <a:solidFill>
                            <a:srgbClr val="EEE9D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dimension × 3～8 個 measure</a:t>
                      </a:r>
                    </a:p>
                  </a:txBody>
                  <a:tcPr marL="18288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EEE9DF">
                          <a:alpha val="25000"/>
                        </a:srgbClr>
                      </a:solidFill>
                    </a:lnT>
                    <a:lnB w="9525">
                      <a:solidFill>
                        <a:srgbClr val="EEE9DF">
                          <a:alpha val="25000"/>
                        </a:srgbClr>
                      </a:solidFill>
                    </a:lnB>
                    <a:solidFill>
                      <a:srgbClr val="EEE9DF">
                        <a:alpha val="1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hangingPunct="1"/>
                      <a:r>
                        <a:rPr sz="1400" b="0" lang="zh-TW">
                          <a:solidFill>
                            <a:srgbClr val="EEE9D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雷達圖（相異值 ≤ 5）</a:t>
                      </a:r>
                    </a:p>
                  </a:txBody>
                  <a:tcPr marL="18288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EEE9DF">
                          <a:alpha val="25000"/>
                        </a:srgbClr>
                      </a:solidFill>
                    </a:lnT>
                    <a:lnB w="9525">
                      <a:solidFill>
                        <a:srgbClr val="EEE9DF">
                          <a:alpha val="25000"/>
                        </a:srgbClr>
                      </a:solidFill>
                    </a:lnB>
                    <a:solidFill>
                      <a:srgbClr val="EEE9DF">
                        <a:alpha val="14000"/>
                      </a:srgbClr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hangingPunct="1"/>
                      <a:r>
                        <a:rPr sz="1400" b="0" lang="zh-TW">
                          <a:solidFill>
                            <a:srgbClr val="EEE9D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time 或 dimension × dimension × measure</a:t>
                      </a:r>
                    </a:p>
                  </a:txBody>
                  <a:tcPr marL="18288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EEE9DF">
                          <a:alpha val="25000"/>
                        </a:srgbClr>
                      </a:solidFill>
                    </a:lnT>
                    <a:lnB w="9525">
                      <a:solidFill>
                        <a:srgbClr val="EEE9DF">
                          <a:alpha val="25000"/>
                        </a:srgbClr>
                      </a:solidFill>
                    </a:lnB>
                    <a:solidFill>
                      <a:srgbClr val="EEE9DF">
                        <a:alpha val="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hangingPunct="1"/>
                      <a:r>
                        <a:rPr sz="1400" b="0" lang="zh-TW">
                          <a:solidFill>
                            <a:srgbClr val="EEE9D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堆疊長條圖、熱力圖（相異值 ≤ 10 才有堆疊長條圖）</a:t>
                      </a:r>
                    </a:p>
                  </a:txBody>
                  <a:tcPr marL="18288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EEE9DF">
                          <a:alpha val="25000"/>
                        </a:srgbClr>
                      </a:solidFill>
                    </a:lnT>
                    <a:lnB w="9525">
                      <a:solidFill>
                        <a:srgbClr val="EEE9DF">
                          <a:alpha val="25000"/>
                        </a:srgbClr>
                      </a:solidFill>
                    </a:lnB>
                    <a:solidFill>
                      <a:srgbClr val="EEE9DF">
                        <a:alpha val="8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vert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2632"/>
            </a:gs>
            <a:gs pos="100000">
              <a:srgbClr val="2C3B4D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orb-orange"/>
          <p:cNvSpPr/>
          <p:nvPr/>
        </p:nvSpPr>
        <p:spPr>
          <a:xfrm>
            <a:off x="1463040" y="3840479"/>
            <a:ext cx="3474720" cy="3474720"/>
          </a:xfrm>
          <a:prstGeom prst="ellipse">
            <a:avLst/>
          </a:prstGeom>
          <a:solidFill>
            <a:srgbClr val="FFB162">
              <a:alpha val="35000"/>
            </a:srgbClr>
          </a:solidFill>
          <a:ln>
            <a:noFill/>
          </a:ln>
          <a:effectLst>
            <a:softEdge rad="868679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!!orb-rust"/>
          <p:cNvSpPr/>
          <p:nvPr/>
        </p:nvSpPr>
        <p:spPr>
          <a:xfrm>
            <a:off x="7589520" y="-1463040"/>
            <a:ext cx="2926080" cy="2926080"/>
          </a:xfrm>
          <a:prstGeom prst="ellipse">
            <a:avLst/>
          </a:prstGeom>
          <a:solidFill>
            <a:srgbClr val="A35139">
              <a:alpha val="55000"/>
            </a:srgbClr>
          </a:solidFill>
          <a:ln>
            <a:noFill/>
          </a:ln>
          <a:effectLst>
            <a:softEdge rad="73152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" name="!!orb-cream"/>
          <p:cNvSpPr/>
          <p:nvPr/>
        </p:nvSpPr>
        <p:spPr>
          <a:xfrm>
            <a:off x="-731520" y="1554480"/>
            <a:ext cx="1645920" cy="1645920"/>
          </a:xfrm>
          <a:prstGeom prst="ellipse">
            <a:avLst/>
          </a:prstGeom>
          <a:solidFill>
            <a:srgbClr val="EEE9DF">
              <a:alpha val="12000"/>
            </a:srgbClr>
          </a:solidFill>
          <a:ln>
            <a:noFill/>
          </a:ln>
          <a:effectLst>
            <a:softEdge rad="41148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2600" b="1" lang="zh-TW">
                <a:solidFill>
                  <a:srgbClr val="EEE9DF"/>
                </a:solidFill>
                <a:effectLst>
                  <a:outerShdw blurRad="50800" dist="19050" dir="5400000" algn="ctr" rotWithShape="0">
                    <a:srgbClr val="000000">
                      <a:alpha val="35000"/>
                    </a:srgbClr>
                  </a:outerShdw>
                </a:effectLst>
                <a:latin typeface="Noto Sans TC"/>
                <a:ea typeface="Noto Sans TC"/>
                <a:cs typeface="Noto Sans TC"/>
              </a:rPr>
              <a:t>組合分數取平均，兩個好欄位才贏得過三個普通欄位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JEV 智慧化產製儀表板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5720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r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371600"/>
          <a:ext cx="530352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89120" y="13716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r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示意數字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4137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73352"/>
            <a:ext cx="3200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1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6459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用加總的話，三欄組合多一個欄位就多一分，幾乎永遠排前面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587751"/>
            <a:ext cx="3200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1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用平均，真正重要的兩欄組合還有機會贏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502151"/>
            <a:ext cx="3200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1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474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排序後取分數最高的 2K 組進第二輪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400"/>
                                        <p:tgtEl>
                                          <p:spTgt spid="8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chart seriesIdx="-4" categoryIdx="0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400"/>
                                        <p:tgtEl>
                                          <p:spTgt spid="8">
                                            <p:graphicEl>
                                              <a:chart seriesIdx="-4" categoryIdx="0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chart seriesIdx="-4" categoryIdx="1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400"/>
                                        <p:tgtEl>
                                          <p:spTgt spid="8">
                                            <p:graphicEl>
                                              <a:chart seriesIdx="-4" categoryIdx="1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0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Sub>
          <a:bldChart bld="category"/>
        </p:bldSub>
      </p:bldGraphic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2632"/>
            </a:gs>
            <a:gs pos="100000">
              <a:srgbClr val="2C3B4D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orb-orange"/>
          <p:cNvSpPr/>
          <p:nvPr/>
        </p:nvSpPr>
        <p:spPr>
          <a:xfrm>
            <a:off x="2651760" y="-2468880"/>
            <a:ext cx="3840480" cy="3840480"/>
          </a:xfrm>
          <a:prstGeom prst="ellipse">
            <a:avLst/>
          </a:prstGeom>
          <a:solidFill>
            <a:srgbClr val="FFB162">
              <a:alpha val="35000"/>
            </a:srgbClr>
          </a:solidFill>
          <a:ln>
            <a:noFill/>
          </a:ln>
          <a:effectLst>
            <a:softEdge rad="96012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!!orb-rust"/>
          <p:cNvSpPr/>
          <p:nvPr/>
        </p:nvSpPr>
        <p:spPr>
          <a:xfrm>
            <a:off x="-1554480" y="3566159"/>
            <a:ext cx="3108960" cy="3108960"/>
          </a:xfrm>
          <a:prstGeom prst="ellipse">
            <a:avLst/>
          </a:prstGeom>
          <a:solidFill>
            <a:srgbClr val="A35139">
              <a:alpha val="55000"/>
            </a:srgbClr>
          </a:solidFill>
          <a:ln>
            <a:noFill/>
          </a:ln>
          <a:effectLst>
            <a:softEdge rad="77724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" name="!!orb-cream"/>
          <p:cNvSpPr/>
          <p:nvPr/>
        </p:nvSpPr>
        <p:spPr>
          <a:xfrm>
            <a:off x="8229600" y="4206240"/>
            <a:ext cx="1645920" cy="1645920"/>
          </a:xfrm>
          <a:prstGeom prst="ellipse">
            <a:avLst/>
          </a:prstGeom>
          <a:solidFill>
            <a:srgbClr val="EEE9DF">
              <a:alpha val="12000"/>
            </a:srgbClr>
          </a:solidFill>
          <a:ln>
            <a:noFill/>
          </a:ln>
          <a:effectLst>
            <a:softEdge rad="41148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2600" b="1" lang="zh-TW">
                <a:solidFill>
                  <a:srgbClr val="EEE9DF"/>
                </a:solidFill>
                <a:effectLst>
                  <a:outerShdw blurRad="50800" dist="19050" dir="5400000" algn="ctr" rotWithShape="0">
                    <a:srgbClr val="000000">
                      <a:alpha val="35000"/>
                    </a:srgbClr>
                  </a:outerShdw>
                </a:effectLst>
                <a:latin typeface="Noto Sans TC"/>
                <a:ea typeface="Noto Sans TC"/>
                <a:cs typeface="Noto Sans TC"/>
              </a:rPr>
              <a:t>兩輪問答把 1225 組可能壓到最多 12 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JEV 智慧化產製儀表板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5720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r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2377440" cy="2286000"/>
          </a:xfrm>
          <a:prstGeom prst="roundRect">
            <a:avLst>
              <a:gd name="adj" fmla="val 4800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 algn="ctr"/>
            <a:r>
              <a:rPr sz="5400" b="1" lang="zh-TW">
                <a:solidFill>
                  <a:srgbClr val="EEE9DF"/>
                </a:solidFill>
                <a:effectLst>
                  <a:outerShdw blurRad="50800" dist="19050" dir="5400000" algn="ctr" rotWithShape="0">
                    <a:srgbClr val="000000">
                      <a:alpha val="35000"/>
                    </a:srgbClr>
                  </a:outerShdw>
                </a:effectLst>
                <a:latin typeface="Noto Sans TC"/>
                <a:ea typeface="Noto Sans TC"/>
                <a:cs typeface="Noto Sans TC"/>
              </a:rPr>
              <a:t>1225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201168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ctr"/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50 個欄位的兩兩組合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03220" y="2423160"/>
            <a:ext cx="411480" cy="320040"/>
          </a:xfrm>
          <a:prstGeom prst="rightArrow">
            <a:avLst/>
          </a:prstGeom>
          <a:solidFill>
            <a:srgbClr val="EEE9D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83280" y="1463040"/>
            <a:ext cx="2377440" cy="2286000"/>
          </a:xfrm>
          <a:prstGeom prst="roundRect">
            <a:avLst>
              <a:gd name="adj" fmla="val 4800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9164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 algn="ctr"/>
            <a:r>
              <a:rPr sz="5400" b="1" lang="zh-TW">
                <a:solidFill>
                  <a:srgbClr val="EEE9DF"/>
                </a:solidFill>
                <a:effectLst>
                  <a:outerShdw blurRad="50800" dist="19050" dir="5400000" algn="ctr" rotWithShape="0">
                    <a:srgbClr val="000000">
                      <a:alpha val="35000"/>
                    </a:srgbClr>
                  </a:outerShdw>
                </a:effectLst>
                <a:latin typeface="Noto Sans TC"/>
                <a:ea typeface="Noto Sans TC"/>
                <a:cs typeface="Noto Sans TC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743200"/>
            <a:ext cx="201168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ctr"/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第一輪篩完剩下的候選欄位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29300" y="2423160"/>
            <a:ext cx="411480" cy="320040"/>
          </a:xfrm>
          <a:prstGeom prst="rightArrow">
            <a:avLst/>
          </a:prstGeom>
          <a:solidFill>
            <a:srgbClr val="EEE9D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09360" y="1463040"/>
            <a:ext cx="2377440" cy="2286000"/>
          </a:xfrm>
          <a:prstGeom prst="roundRect">
            <a:avLst>
              <a:gd name="adj" fmla="val 4800"/>
            </a:avLst>
          </a:prstGeom>
          <a:solidFill>
            <a:srgbClr val="2C3B4D">
              <a:alpha val="85000"/>
            </a:srgbClr>
          </a:solidFill>
          <a:ln w="15875">
            <a:solidFill>
              <a:srgbClr val="FFB162"/>
            </a:solidFill>
          </a:ln>
          <a:effectLst>
            <a:glow rad="101600">
              <a:srgbClr val="FFB162">
                <a:alpha val="45000"/>
              </a:srgbClr>
            </a:glow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69164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 algn="ctr"/>
            <a:r>
              <a:rPr sz="5400" b="1" lang="zh-TW">
                <a:solidFill>
                  <a:srgbClr val="FFB162"/>
                </a:solidFill>
                <a:effectLst>
                  <a:glow rad="101600">
                    <a:srgbClr val="FFB162">
                      <a:alpha val="45000"/>
                    </a:srgbClr>
                  </a:glow>
                  <a:outerShdw blurRad="50800" dist="19050" dir="5400000" algn="ctr" rotWithShape="0">
                    <a:srgbClr val="000000">
                      <a:alpha val="35000"/>
                    </a:srgbClr>
                  </a:outerShdw>
                </a:effectLst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43200"/>
            <a:ext cx="201168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ctr"/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第二輪最多問的題數（2K，K ≤ 6）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不管原始資料有幾欄，題數上限都一樣</a:t>
            </a:r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2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3" dur="2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7" grpId="1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2632"/>
            </a:gs>
            <a:gs pos="100000">
              <a:srgbClr val="2C3B4D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orb-orange"/>
          <p:cNvSpPr/>
          <p:nvPr/>
        </p:nvSpPr>
        <p:spPr>
          <a:xfrm>
            <a:off x="-1828800" y="1645920"/>
            <a:ext cx="3108960" cy="3108960"/>
          </a:xfrm>
          <a:prstGeom prst="ellipse">
            <a:avLst/>
          </a:prstGeom>
          <a:solidFill>
            <a:srgbClr val="FFB162">
              <a:alpha val="35000"/>
            </a:srgbClr>
          </a:solidFill>
          <a:ln>
            <a:noFill/>
          </a:ln>
          <a:effectLst>
            <a:softEdge rad="77724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!!orb-rust"/>
          <p:cNvSpPr/>
          <p:nvPr/>
        </p:nvSpPr>
        <p:spPr>
          <a:xfrm>
            <a:off x="7772400" y="91440"/>
            <a:ext cx="3108960" cy="3108960"/>
          </a:xfrm>
          <a:prstGeom prst="ellipse">
            <a:avLst/>
          </a:prstGeom>
          <a:solidFill>
            <a:srgbClr val="A35139">
              <a:alpha val="55000"/>
            </a:srgbClr>
          </a:solidFill>
          <a:ln>
            <a:noFill/>
          </a:ln>
          <a:effectLst>
            <a:softEdge rad="77724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" name="!!orb-cream"/>
          <p:cNvSpPr/>
          <p:nvPr/>
        </p:nvSpPr>
        <p:spPr>
          <a:xfrm>
            <a:off x="5760720" y="4846320"/>
            <a:ext cx="1280160" cy="1280160"/>
          </a:xfrm>
          <a:prstGeom prst="ellipse">
            <a:avLst/>
          </a:prstGeom>
          <a:solidFill>
            <a:srgbClr val="EEE9DF">
              <a:alpha val="12000"/>
            </a:srgbClr>
          </a:solidFill>
          <a:ln>
            <a:noFill/>
          </a:ln>
          <a:effectLst>
            <a:softEdge rad="32004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2600" b="1" lang="zh-TW">
                <a:solidFill>
                  <a:srgbClr val="EEE9DF"/>
                </a:solidFill>
                <a:effectLst>
                  <a:outerShdw blurRad="50800" dist="19050" dir="5400000" algn="ctr" rotWithShape="0">
                    <a:srgbClr val="000000">
                      <a:alpha val="35000"/>
                    </a:srgbClr>
                  </a:outerShdw>
                </a:effectLst>
                <a:latin typeface="Noto Sans TC"/>
                <a:ea typeface="Noto Sans TC"/>
                <a:cs typeface="Noto Sans TC"/>
              </a:rPr>
              <a:t>送給 JEV 的只有欄位資訊和摘要，資料列一筆都不送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JEV 智慧化產製儀表板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5720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r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560320" cy="1234440"/>
          </a:xfrm>
          <a:prstGeom prst="roundRect">
            <a:avLst>
              <a:gd name="adj" fmla="val 8888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45920"/>
            <a:ext cx="4114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166420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欄位資訊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3055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名稱、型別、相異值數量、5 筆樣本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417320"/>
            <a:ext cx="2560320" cy="1234440"/>
          </a:xfrm>
          <a:prstGeom prst="roundRect">
            <a:avLst>
              <a:gd name="adj" fmla="val 8888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inters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1645920"/>
            <a:ext cx="411480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69080" y="166420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組合描述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13055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欄位名稱和角色，不含任何值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417320"/>
            <a:ext cx="2560320" cy="1234440"/>
          </a:xfrm>
          <a:prstGeom prst="roundRect">
            <a:avLst>
              <a:gd name="adj" fmla="val 8888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pul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645920"/>
            <a:ext cx="411480" cy="411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03720" y="166420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異常摘要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13055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兩期聚合值和變化百分比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834640"/>
            <a:ext cx="2560320" cy="1234440"/>
          </a:xfrm>
          <a:prstGeom prst="roundRect">
            <a:avLst>
              <a:gd name="adj" fmla="val 8888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chat-tex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063240"/>
            <a:ext cx="411480" cy="411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34440" y="308152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使用者需求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54787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需求句子和目前圖表的標題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834640"/>
            <a:ext cx="2560320" cy="1234440"/>
          </a:xfrm>
          <a:prstGeom prst="roundRect">
            <a:avLst>
              <a:gd name="adj" fmla="val 8888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git-mer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0440" y="3063240"/>
            <a:ext cx="411480" cy="4114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069080" y="308152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合併來源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354787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來源名稱、筆數和欄位清單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2834640"/>
            <a:ext cx="2560320" cy="1234440"/>
          </a:xfrm>
          <a:prstGeom prst="roundRect">
            <a:avLst>
              <a:gd name="adj" fmla="val 8888"/>
            </a:avLst>
          </a:prstGeom>
          <a:solidFill>
            <a:srgbClr val="2C3B4D">
              <a:alpha val="85000"/>
            </a:srgbClr>
          </a:solidFill>
          <a:ln w="15875">
            <a:solidFill>
              <a:srgbClr val="FFB162"/>
            </a:solidFill>
          </a:ln>
          <a:effectLst>
            <a:glow rad="101600">
              <a:srgbClr val="FFB162">
                <a:alpha val="45000"/>
              </a:srgbClr>
            </a:glow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prohibi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3063240"/>
            <a:ext cx="411480" cy="4114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903720" y="308152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永遠不送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54787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原始資料列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勾成敏感的欄位，只送名稱和型別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9" dur="4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2" dur="4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5" dur="40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8" dur="40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01" dur="40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04" dur="40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07" dur="40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10" dur="40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9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13" dur="400" fill="hold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16" dur="400" fill="hold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9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19" dur="40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2" dur="400" fill="hold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5" dur="400" fill="hold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8" dur="400" fill="hold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9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1" dur="400" fill="hold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9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4" dur="400" fill="hold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9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7" dur="400" fill="hold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40" dur="400" fill="hold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9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43" dur="400" fill="hold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9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46" dur="400" fill="hold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8" grpId="1" animBg="1"/>
      <p:bldP spid="10" grpId="1" animBg="1"/>
      <p:bldP spid="11" grpId="1" animBg="1"/>
      <p:bldP spid="12" grpId="1" animBg="1"/>
      <p:bldP spid="14" grpId="1" animBg="1"/>
      <p:bldP spid="15" grpId="1" animBg="1"/>
      <p:bldP spid="16" grpId="1" animBg="1"/>
      <p:bldP spid="18" grpId="1" animBg="1"/>
      <p:bldP spid="19" grpId="1" animBg="1"/>
      <p:bldP spid="20" grpId="1" animBg="1"/>
      <p:bldP spid="22" grpId="1" animBg="1"/>
      <p:bldP spid="23" grpId="1" animBg="1"/>
      <p:bldP spid="24" grpId="1" animBg="1"/>
      <p:bldP spid="26" grpId="1" animBg="1"/>
      <p:bldP spid="27" grpId="1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2632"/>
            </a:gs>
            <a:gs pos="100000">
              <a:srgbClr val="2C3B4D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orb-orange"/>
          <p:cNvSpPr/>
          <p:nvPr/>
        </p:nvSpPr>
        <p:spPr>
          <a:xfrm>
            <a:off x="7040879" y="3566160"/>
            <a:ext cx="3474720" cy="3474720"/>
          </a:xfrm>
          <a:prstGeom prst="ellipse">
            <a:avLst/>
          </a:prstGeom>
          <a:solidFill>
            <a:srgbClr val="FFB162">
              <a:alpha val="35000"/>
            </a:srgbClr>
          </a:solidFill>
          <a:ln>
            <a:noFill/>
          </a:ln>
          <a:effectLst>
            <a:softEdge rad="868679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!!orb-rust"/>
          <p:cNvSpPr/>
          <p:nvPr/>
        </p:nvSpPr>
        <p:spPr>
          <a:xfrm>
            <a:off x="457200" y="-1737360"/>
            <a:ext cx="2743200" cy="2743200"/>
          </a:xfrm>
          <a:prstGeom prst="ellipse">
            <a:avLst/>
          </a:prstGeom>
          <a:solidFill>
            <a:srgbClr val="A35139">
              <a:alpha val="55000"/>
            </a:srgbClr>
          </a:solidFill>
          <a:ln>
            <a:noFill/>
          </a:ln>
          <a:effectLst>
            <a:softEdge rad="68580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" name="!!orb-cream"/>
          <p:cNvSpPr/>
          <p:nvPr/>
        </p:nvSpPr>
        <p:spPr>
          <a:xfrm>
            <a:off x="-548640" y="3657600"/>
            <a:ext cx="1463040" cy="1463040"/>
          </a:xfrm>
          <a:prstGeom prst="ellipse">
            <a:avLst/>
          </a:prstGeom>
          <a:solidFill>
            <a:srgbClr val="EEE9DF">
              <a:alpha val="12000"/>
            </a:srgbClr>
          </a:solidFill>
          <a:ln>
            <a:noFill/>
          </a:ln>
          <a:effectLst>
            <a:softEdge rad="36576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2600" b="1" lang="zh-TW">
                <a:solidFill>
                  <a:srgbClr val="EEE9DF"/>
                </a:solidFill>
                <a:effectLst>
                  <a:outerShdw blurRad="50800" dist="19050" dir="5400000" algn="ctr" rotWithShape="0">
                    <a:srgbClr val="000000">
                      <a:alpha val="35000"/>
                    </a:srgbClr>
                  </a:outerShdw>
                </a:effectLst>
                <a:latin typeface="Noto Sans TC"/>
                <a:ea typeface="Noto Sans TC"/>
                <a:cs typeface="Noto Sans TC"/>
              </a:rPr>
              <a:t>同一套分工已經用在四個地方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JEV 智慧化產製儀表板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5720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r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050" b="1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場景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3716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050" b="1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JEV 回答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3716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050" b="1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後端決定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783080"/>
            <a:ext cx="8229600" cy="594360"/>
          </a:xfrm>
          <a:prstGeom prst="roundRect">
            <a:avLst>
              <a:gd name="adj" fmla="val 18461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產生儀表板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178308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欄位重要性、角色、圖型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783080"/>
            <a:ext cx="292608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合法組合、mapping、版面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468880"/>
            <a:ext cx="8229600" cy="594360"/>
          </a:xfrm>
          <a:prstGeom prst="roundRect">
            <a:avLst>
              <a:gd name="adj" fmla="val 18461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46888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依需求調整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46888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欄位相不相關、圖要不要留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468880"/>
            <a:ext cx="292608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焦點排序、保留與補位、新圖編號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54680"/>
            <a:ext cx="8229600" cy="594360"/>
          </a:xfrm>
          <a:prstGeom prst="roundRect">
            <a:avLst>
              <a:gd name="adj" fmla="val 18461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15468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載入時異常檢查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15468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有沒有異常、嚴重程度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154680"/>
            <a:ext cx="292608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檢查哪些卡片、比哪兩期、快取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840480"/>
            <a:ext cx="8229600" cy="594360"/>
          </a:xfrm>
          <a:prstGeom prst="roundRect">
            <a:avLst>
              <a:gd name="adj" fmla="val 18461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84048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合併時對欄位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384048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哪兩個欄位是同一種資料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3840480"/>
            <a:ext cx="292608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候選範圍、採用門檻、衝突取捨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B2632"/>
            </a:gs>
            <a:gs pos="100000">
              <a:srgbClr val="2C3B4D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orb-orange"/>
          <p:cNvSpPr/>
          <p:nvPr/>
        </p:nvSpPr>
        <p:spPr>
          <a:xfrm>
            <a:off x="5394960" y="-822960"/>
            <a:ext cx="3840480" cy="3840480"/>
          </a:xfrm>
          <a:prstGeom prst="ellipse">
            <a:avLst/>
          </a:prstGeom>
          <a:solidFill>
            <a:srgbClr val="FFB162">
              <a:alpha val="35000"/>
            </a:srgbClr>
          </a:solidFill>
          <a:ln>
            <a:noFill/>
          </a:ln>
          <a:effectLst>
            <a:softEdge rad="96012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!!orb-rust"/>
          <p:cNvSpPr/>
          <p:nvPr/>
        </p:nvSpPr>
        <p:spPr>
          <a:xfrm>
            <a:off x="3931920" y="3383280"/>
            <a:ext cx="3108960" cy="3108960"/>
          </a:xfrm>
          <a:prstGeom prst="ellipse">
            <a:avLst/>
          </a:prstGeom>
          <a:solidFill>
            <a:srgbClr val="A35139">
              <a:alpha val="55000"/>
            </a:srgbClr>
          </a:solidFill>
          <a:ln>
            <a:noFill/>
          </a:ln>
          <a:effectLst>
            <a:softEdge rad="77724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" name="!!orb-cream"/>
          <p:cNvSpPr/>
          <p:nvPr/>
        </p:nvSpPr>
        <p:spPr>
          <a:xfrm>
            <a:off x="91439" y="3931920"/>
            <a:ext cx="1645920" cy="1645920"/>
          </a:xfrm>
          <a:prstGeom prst="ellipse">
            <a:avLst/>
          </a:prstGeom>
          <a:solidFill>
            <a:srgbClr val="EEE9DF">
              <a:alpha val="12000"/>
            </a:srgbClr>
          </a:solidFill>
          <a:ln>
            <a:noFill/>
          </a:ln>
          <a:effectLst>
            <a:softEdge rad="411480"/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2600" b="1" lang="zh-TW">
                <a:solidFill>
                  <a:srgbClr val="EEE9DF"/>
                </a:solidFill>
                <a:effectLst>
                  <a:outerShdw blurRad="50800" dist="19050" dir="5400000" algn="ctr" rotWithShape="0">
                    <a:srgbClr val="000000">
                      <a:alpha val="35000"/>
                    </a:srgbClr>
                  </a:outerShdw>
                </a:effectLst>
                <a:latin typeface="Noto Sans TC"/>
                <a:ea typeface="Noto Sans TC"/>
                <a:cs typeface="Noto Sans TC"/>
              </a:rPr>
              <a:t>套到自己專案：先列題目，再寫規則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26280"/>
            <a:ext cx="68580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完整規則見 docs/JEV智慧化產製儀表板的流程與方法.md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5720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hangingPunct="1" algn="r"/>
            <a:r>
              <a:rPr sz="1050" b="0" lang="zh-TW">
                <a:solidFill>
                  <a:srgbClr val="C9C1B1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6858000" y="1417320"/>
            <a:ext cx="1645920" cy="925830"/>
          </a:xfrm>
          <a:prstGeom prst="roundRect">
            <a:avLst>
              <a:gd name="adj" fmla="val 11851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 wrap="square" lIns="54864" rIns="54864" tIns="54864" bIns="54864">
            <a:noAutofit/>
          </a:bodyPr>
          <a:lstStyle/>
          <a:p>
            <a:pPr algn="ctr" hangingPunct="1"/>
            <a:r>
              <a:rPr sz="1050" b="0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第 5 頁</a:t>
            </a:r>
          </a:p>
          <a:p>
            <a:pPr hangingPunct="1" algn="ctr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結構化題目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664208"/>
            <a:ext cx="411480" cy="411480"/>
          </a:xfrm>
          <a:prstGeom prst="ellipse">
            <a:avLst/>
          </a:prstGeom>
          <a:noFill/>
          <a:ln w="15875">
            <a:solidFill>
              <a:srgbClr val="FFB162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 hangingPunct="1"/>
            <a:r>
              <a:rPr sz="1600" b="1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41732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把要模型做的事，改寫成 score 和 choice 題目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858000" y="2423160"/>
            <a:ext cx="1645920" cy="925830"/>
          </a:xfrm>
          <a:prstGeom prst="roundRect">
            <a:avLst>
              <a:gd name="adj" fmla="val 11851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 wrap="square" lIns="54864" rIns="54864" tIns="54864" bIns="54864">
            <a:noAutofit/>
          </a:bodyPr>
          <a:lstStyle/>
          <a:p>
            <a:pPr algn="ctr" hangingPunct="1"/>
            <a:r>
              <a:rPr sz="1050" b="0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第 7 頁</a:t>
            </a:r>
          </a:p>
          <a:p>
            <a:pPr hangingPunct="1" algn="ctr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合法組合表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670048"/>
            <a:ext cx="411480" cy="411480"/>
          </a:xfrm>
          <a:prstGeom prst="ellipse">
            <a:avLst/>
          </a:prstGeom>
          <a:noFill/>
          <a:ln w="15875">
            <a:solidFill>
              <a:srgbClr val="FFB162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 hangingPunct="1"/>
            <a:r>
              <a:rPr sz="1600" b="1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42316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合法性、彙總、版面寫成後端純函式，能寫單元測試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858000" y="3429000"/>
            <a:ext cx="1645920" cy="925830"/>
          </a:xfrm>
          <a:prstGeom prst="roundRect">
            <a:avLst>
              <a:gd name="adj" fmla="val 11851"/>
            </a:avLst>
          </a:prstGeom>
          <a:solidFill>
            <a:srgbClr val="EEE9DF">
              <a:alpha val="12000"/>
            </a:srgbClr>
          </a:solidFill>
          <a:ln w="9525">
            <a:solidFill>
              <a:srgbClr val="EEE9DF">
                <a:alpha val="35000"/>
              </a:srgbClr>
            </a:solidFill>
          </a:ln>
          <a:effectLst>
            <a:outerShdw blurRad="228600" dist="762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 wrap="square" lIns="54864" rIns="54864" tIns="54864" bIns="54864">
            <a:noAutofit/>
          </a:bodyPr>
          <a:lstStyle/>
          <a:p>
            <a:pPr algn="ctr" hangingPunct="1"/>
            <a:r>
              <a:rPr sz="1050" b="0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第 10 頁</a:t>
            </a:r>
          </a:p>
          <a:p>
            <a:pPr hangingPunct="1" algn="ctr"/>
            <a:r>
              <a:rPr sz="1600" b="1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送出的內容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675887"/>
            <a:ext cx="411480" cy="411480"/>
          </a:xfrm>
          <a:prstGeom prst="ellipse">
            <a:avLst/>
          </a:prstGeom>
          <a:noFill/>
          <a:ln w="15875">
            <a:solidFill>
              <a:srgbClr val="FFB162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 hangingPunct="1"/>
            <a:r>
              <a:rPr sz="1600" b="1" lang="zh-TW">
                <a:solidFill>
                  <a:srgbClr val="FFB162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42900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hangingPunct="1"/>
            <a:r>
              <a:rPr sz="1400" b="0" lang="zh-TW">
                <a:solidFill>
                  <a:srgbClr val="EEE9DF"/>
                </a:solidFill>
                <a:latin typeface="Noto Sans TC"/>
                <a:ea typeface="Noto Sans TC"/>
                <a:cs typeface="Noto Sans TC"/>
              </a:rPr>
              <a:t>只送欄位資訊和摘要，失敗時不影響已經做好的部分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8" grpId="0" animBg="1"/>
      <p:bldP spid="12" grpId="0" animBg="1"/>
      <p:bldP spid="13" grpId="0" animBg="1"/>
      <p:bldP spid="11" grpId="0" animBg="1"/>
      <p:bldP spid="15" grpId="0" animBg="1"/>
      <p:bldP spid="16" grpId="0" animBg="1"/>
      <p:bldP spid="1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JEV 只做判斷，其他交給規則</dc:title>
  <dc:subject/>
  <dc:creator>Wayne Chang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