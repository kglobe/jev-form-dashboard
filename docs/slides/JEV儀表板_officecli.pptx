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85f28c778a24d8d" /><Relationship Type="http://schemas.openxmlformats.org/package/2006/relationships/metadata/core-properties" Target="/docProps/core.xml" Id="Reaaece9e608c46e0" /><Relationship Type="http://schemas.openxmlformats.org/officeDocument/2006/relationships/extended-properties" Target="/docProps/app.xml" Id="Rf6585eb705d746ba" /><Relationship Type="http://schemas.openxmlformats.org/officeDocument/2006/relationships/custom-properties" Target="/docProps/custom.xml" Id="Rc626ba3d3b7b41f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68ea5088f304305"/>
  </p:notesMasterIdLst>
  <p:sldIdLst>
    <p:sldId id="256" r:id="Rcac6a3a0e6934525"/>
    <p:sldId id="257" r:id="R43ad583ae3254a97"/>
    <p:sldId id="258" r:id="Rf1835075fe2248b2"/>
    <p:sldId id="259" r:id="Rb6a28bea6dc44f17"/>
    <p:sldId id="260" r:id="R60bd247ac0124004"/>
    <p:sldId id="261" r:id="R6b5a1115b4094b83"/>
    <p:sldId id="262" r:id="R8b3a791bdcb34d8a"/>
    <p:sldId id="263" r:id="R6a3c00cd9bfb4c42"/>
    <p:sldId id="264" r:id="R688af110c3fd4455"/>
    <p:sldId id="265" r:id="R70373672a7604fae"/>
    <p:sldId id="266" r:id="Ra4fbf5d354c54470"/>
    <p:sldId id="267" r:id="R266b8ddb675944a9"/>
  </p:sldIdLst>
  <p:sldSz cx="9144000" cy="51435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ac6a3a0e6934525" /><Relationship Type="http://schemas.openxmlformats.org/officeDocument/2006/relationships/notesMaster" Target="/ppt/notesMasters/notesMaster1.xml" Id="R668ea5088f304305" /><Relationship Type="http://schemas.openxmlformats.org/officeDocument/2006/relationships/slide" Target="/ppt/slides/slide2.xml" Id="R43ad583ae3254a97" /><Relationship Type="http://schemas.openxmlformats.org/officeDocument/2006/relationships/slide" Target="/ppt/slides/slide3.xml" Id="Rf1835075fe2248b2" /><Relationship Type="http://schemas.openxmlformats.org/officeDocument/2006/relationships/slide" Target="/ppt/slides/slide4.xml" Id="Rb6a28bea6dc44f17" /><Relationship Type="http://schemas.openxmlformats.org/officeDocument/2006/relationships/slide" Target="/ppt/slides/slide5.xml" Id="R60bd247ac0124004" /><Relationship Type="http://schemas.openxmlformats.org/officeDocument/2006/relationships/slide" Target="/ppt/slides/slide6.xml" Id="R6b5a1115b4094b83" /><Relationship Type="http://schemas.openxmlformats.org/officeDocument/2006/relationships/slide" Target="/ppt/slides/slide7.xml" Id="R8b3a791bdcb34d8a" /><Relationship Type="http://schemas.openxmlformats.org/officeDocument/2006/relationships/slide" Target="/ppt/slides/slide8.xml" Id="R6a3c00cd9bfb4c42" /><Relationship Type="http://schemas.openxmlformats.org/officeDocument/2006/relationships/slide" Target="/ppt/slides/slide9.xml" Id="R688af110c3fd4455" /><Relationship Type="http://schemas.openxmlformats.org/officeDocument/2006/relationships/slide" Target="/ppt/slides/slide10.xml" Id="R70373672a7604fae" /><Relationship Type="http://schemas.openxmlformats.org/officeDocument/2006/relationships/slide" Target="/ppt/slides/slide11.xml" Id="Ra4fbf5d354c54470" /><Relationship Type="http://schemas.openxmlformats.org/officeDocument/2006/relationships/slide" Target="/ppt/slides/slide12.xml" Id="R266b8ddb675944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4501e2f416c408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534a8719df54f35" /><Relationship Type="http://schemas.openxmlformats.org/officeDocument/2006/relationships/slide" Target="/ppt/slides/slide1.xml" Id="R2950ed46cc1841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c99617e4755444f" /><Relationship Type="http://schemas.openxmlformats.org/officeDocument/2006/relationships/slide" Target="/ppt/slides/slide2.xml" Id="R18fde8f52126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25906f2fe1d42b9" /><Relationship Type="http://schemas.openxmlformats.org/officeDocument/2006/relationships/slide" Target="/ppt/slides/slide3.xml" Id="R407f20c0b2a349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4051a2cd084e98" /><Relationship Type="http://schemas.openxmlformats.org/officeDocument/2006/relationships/slide" Target="/ppt/slides/slide4.xml" Id="Ra953e0a8603e47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6856f7d28324387" /><Relationship Type="http://schemas.openxmlformats.org/officeDocument/2006/relationships/slide" Target="/ppt/slides/slide5.xml" Id="R47fe7deb89dd4c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634cfbf65423a" /><Relationship Type="http://schemas.openxmlformats.org/officeDocument/2006/relationships/slide" Target="/ppt/slides/slide6.xml" Id="R1e17cf27422c4a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008d8a88a934ed1" /><Relationship Type="http://schemas.openxmlformats.org/officeDocument/2006/relationships/slide" Target="/ppt/slides/slide7.xml" Id="R0c69b92a7488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c8bc29d2e19490b" /><Relationship Type="http://schemas.openxmlformats.org/officeDocument/2006/relationships/slide" Target="/ppt/slides/slide8.xml" Id="R8af7e3737b6540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b61e8a8dc544bbd" /><Relationship Type="http://schemas.openxmlformats.org/officeDocument/2006/relationships/slide" Target="/ppt/slides/slide9.xml" Id="Rd402977c39d04e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965276fa34e46fd" /><Relationship Type="http://schemas.openxmlformats.org/officeDocument/2006/relationships/slide" Target="/ppt/slides/slide10.xml" Id="R9ec8bfdd372241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b2e3ae1e274e65" /><Relationship Type="http://schemas.openxmlformats.org/officeDocument/2006/relationships/slide" Target="/ppt/slides/slide11.xml" Id="R3875586eff0c46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69b6a0379645b7" /><Relationship Type="http://schemas.openxmlformats.org/officeDocument/2006/relationships/slide" Target="/ppt/slides/slide12.xml" Id="R32831b1ccb7446b3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今天講的是一種分工方式，不限這個專案。希望大家聽完，回去能把自己專案裡叫模型做的事，拆成題目和規則兩半。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這三個問題是一開始就想避開的。第三個最實際，ERP 資料常見 20 到 50 個欄位。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這頁是今天的重點。模型完全不碰合法性、彙總和版面。就算它選了不合理的組合，只要規則表裡沒有，圖就畫不出來。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第三步、第五步和最後一步才問 JEV，其他步驟寫死在程式裡，可以寫單元測試。異常檢查是非同步的，失敗也不影響已經畫好的圖。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敏感欄位只送名稱和型別，相異值數量和樣本值整個不送。chart_count 的分數四捨五入再加一就是張數 K，夾在 1 到 6 之間。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這是 ConfigAssembler.evaluate 的兩層防呆。第二輪選圖也一樣：答 none、信心低於 0.5，或選了清單外的圖型，那一組就跳過。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兩個 dimension 湊不出散佈圖，因為表裡只有 measure 配 measure 才給 scatter。明細表不經過 JEV，每份儀表板固定加一張。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的分數來自文件範例，金額 3.0、訂單日期 2.6。B 是示意。同分時照產生順序，先兩欄組合，再雷達，再三欄組合。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第一輪先把欄位篩到最多 8 個候選，組合還沒爆炸就減量。第二輪只問分數最高的 2K 組，K 最多 6。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錯誤也一樣處理。JEV 或外部 API 失敗時，回給使用者的 502 只帶狀態碼，不轉出上游回應內容。外部系統的 secret 只認 DS_ 開頭的環境變數，呼叫當下才讀。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依需求分析時，JEV 多回答 rel_i 和 keep_&lt;chartId&gt; 兩種題目，合併對欄位用 map_k_j。題目變了，分工沒變：哪些要問、候選有哪些、答案採不採用，都是後端規則。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三件事照順序做。先列題目，題目的選項本身就是規則的邊界。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58d24d42e48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d42a50a4940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898c0051946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28d7e947541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228566bf54e0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f1a6283feb24b9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2d80f1e934dd6" /><Relationship Type="http://schemas.openxmlformats.org/officeDocument/2006/relationships/notesSlide" Target="/ppt/notesSlides/notesSlide1.xml" Id="Rc9bd5229fe4344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d2d95b7d24c0b" /><Relationship Type="http://schemas.openxmlformats.org/officeDocument/2006/relationships/notesSlide" Target="/ppt/notesSlides/notesSlide2.xml" Id="R6acc528dbf6042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a31f947fc4e07" /><Relationship Type="http://schemas.openxmlformats.org/officeDocument/2006/relationships/notesSlide" Target="/ppt/notesSlides/notesSlide3.xml" Id="R462938727acf46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5e841293743b0" /><Relationship Type="http://schemas.openxmlformats.org/officeDocument/2006/relationships/notesSlide" Target="/ppt/notesSlides/notesSlide4.xml" Id="R06922632a57e4f23" /><Relationship Type="http://schemas.openxmlformats.org/officeDocument/2006/relationships/slide" Target="/ppt/slides/slide5.xml" Id="Ra760a25aa1114f5e" /><Relationship Type="http://schemas.openxmlformats.org/officeDocument/2006/relationships/slide" Target="/ppt/slides/slide7.xml" Id="Rc87930b2922a4645" /><Relationship Type="http://schemas.openxmlformats.org/officeDocument/2006/relationships/slide" Target="/ppt/slides/slide9.xml" Id="Rfd24cbf8433b4456" /><Relationship Type="http://schemas.openxmlformats.org/officeDocument/2006/relationships/slide" Target="/ppt/slides/slide11.xml" Id="R547fe2e9408f47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6a935b39d4db8" /><Relationship Type="http://schemas.openxmlformats.org/officeDocument/2006/relationships/notesSlide" Target="/ppt/notesSlides/notesSlide5.xml" Id="Re652ef48d84d48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bb782336a406c" /><Relationship Type="http://schemas.openxmlformats.org/officeDocument/2006/relationships/notesSlide" Target="/ppt/notesSlides/notesSlide6.xml" Id="Rfc032351b1f34a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cd5e87cd048fe" /><Relationship Type="http://schemas.openxmlformats.org/officeDocument/2006/relationships/notesSlide" Target="/ppt/notesSlides/notesSlide7.xml" Id="R97895b9144004e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9cbb780654010" /><Relationship Type="http://schemas.openxmlformats.org/officeDocument/2006/relationships/chart" Target="/ppt/slides/charts/chart1.xml" Id="R41aad35a9e344d82" /><Relationship Type="http://schemas.openxmlformats.org/officeDocument/2006/relationships/notesSlide" Target="/ppt/notesSlides/notesSlide8.xml" Id="R35096afcccc248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ca1321b3447f5" /><Relationship Type="http://schemas.openxmlformats.org/officeDocument/2006/relationships/notesSlide" Target="/ppt/notesSlides/notesSlide9.xml" Id="Rc66929f843bf48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dde80836c40bc" /><Relationship Type="http://schemas.openxmlformats.org/officeDocument/2006/relationships/image" Target="/ppt/media/image.svg" Id="R671e1fe1ea4545fc" /><Relationship Type="http://schemas.openxmlformats.org/officeDocument/2006/relationships/image" Target="/ppt/media/image.png" Id="R2b115628aef949bc" /><Relationship Type="http://schemas.openxmlformats.org/officeDocument/2006/relationships/image" Target="/ppt/media/image2.svg" Id="R2da2f7d41e3e4e80" /><Relationship Type="http://schemas.openxmlformats.org/officeDocument/2006/relationships/image" Target="/ppt/media/image2.png" Id="Ra6454c36cad24316" /><Relationship Type="http://schemas.openxmlformats.org/officeDocument/2006/relationships/image" Target="/ppt/media/image3.svg" Id="R157174b1c6ee4203" /><Relationship Type="http://schemas.openxmlformats.org/officeDocument/2006/relationships/image" Target="/ppt/media/image3.png" Id="Rfb6fc64d91694819" /><Relationship Type="http://schemas.openxmlformats.org/officeDocument/2006/relationships/image" Target="/ppt/media/image4.svg" Id="R4af0dfb7367f4875" /><Relationship Type="http://schemas.openxmlformats.org/officeDocument/2006/relationships/image" Target="/ppt/media/image4.png" Id="R6bcb64a901d84c06" /><Relationship Type="http://schemas.openxmlformats.org/officeDocument/2006/relationships/image" Target="/ppt/media/image5.svg" Id="R3c9d7bc3344c4ae9" /><Relationship Type="http://schemas.openxmlformats.org/officeDocument/2006/relationships/image" Target="/ppt/media/image5.png" Id="Ra646dd828e6a44f0" /><Relationship Type="http://schemas.openxmlformats.org/officeDocument/2006/relationships/image" Target="/ppt/media/image6.svg" Id="R47e67f18e15e4c31" /><Relationship Type="http://schemas.openxmlformats.org/officeDocument/2006/relationships/image" Target="/ppt/media/image6.png" Id="R9cc028150ace49f5" /><Relationship Type="http://schemas.openxmlformats.org/officeDocument/2006/relationships/notesSlide" Target="/ppt/notesSlides/notesSlide10.xml" Id="Rbeab3f1e05b048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832ce7e1d4350" /><Relationship Type="http://schemas.openxmlformats.org/officeDocument/2006/relationships/notesSlide" Target="/ppt/notesSlides/notesSlide11.xml" Id="Rc5b0d2228cb348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a876b9028419f" /><Relationship Type="http://schemas.openxmlformats.org/officeDocument/2006/relationships/image" Target="/ppt/media/image7.png" Id="R1c7ac682712d4cfd" /><Relationship Type="http://schemas.openxmlformats.org/officeDocument/2006/relationships/slide" Target="/ppt/slides/slide5.xml" Id="Rea6988a3af184222" /><Relationship Type="http://schemas.openxmlformats.org/officeDocument/2006/relationships/image" Target="/ppt/media/image8.png" Id="R0de057c9d4f94193" /><Relationship Type="http://schemas.openxmlformats.org/officeDocument/2006/relationships/slide" Target="/ppt/slides/slide7.xml" Id="Rc3c7f3286386423b" /><Relationship Type="http://schemas.openxmlformats.org/officeDocument/2006/relationships/image" Target="/ppt/media/image9.png" Id="Recc929911a044f2b" /><Relationship Type="http://schemas.openxmlformats.org/officeDocument/2006/relationships/slide" Target="/ppt/slides/slide10.xml" Id="R2e597580643a47e6" /><Relationship Type="http://schemas.openxmlformats.org/officeDocument/2006/relationships/notesSlide" Target="/ppt/notesSlides/notesSlide12.xml" Id="Rabb0b0dbb4234e59" /><Relationship Type="http://schemas.openxmlformats.org/officeDocument/2006/relationships/image" Target="/ppt/media/image10.png" Id="R8e633ffe91584b21" /><Relationship Type="http://schemas.openxmlformats.org/officeDocument/2006/relationships/image" Target="/ppt/media/image11.png" Id="Rd5f58048e5b34240" /><Relationship Type="http://schemas.openxmlformats.org/officeDocument/2006/relationships/image" Target="/ppt/media/image12.png" Id="R6aaa01a0fd7b4e9d" /></Relationships>
</file>

<file path=ppt/slides/charts/chart1.xml><?xml version="1.0" encoding="utf-8"?>
<c:chartSpace xmlns:c="http://schemas.openxmlformats.org/drawingml/2006/chart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加總</c:v>
          </c:tx>
          <c:spPr>
            <a:solidFill xmlns:a="http://schemas.openxmlformats.org/drawingml/2006/main">
              <a:srgbClr val="FFFFFF">
                <a:alpha val="70196"/>
              </a:srgbClr>
            </a:solidFill>
          </c:spPr>
          <c:invertIfNegative val="0"/>
          <c:cat>
            <c:strLit>
              <c:ptCount val="2"/>
              <c:pt idx="0">
                <c:v>組合 A：金額＋訂單日期</c:v>
              </c:pt>
              <c:pt idx="1">
                <c:v>組合 B：三個次要欄位</c:v>
              </c:pt>
            </c:strLit>
          </c:cat>
          <c:val>
            <c:numLit>
              <c:formatCode>General</c:formatCode>
              <c:ptCount val="2"/>
              <c:pt idx="0">
                <c:v>5.6</c:v>
              </c:pt>
              <c:pt idx="1">
                <c:v>6</c:v>
              </c:pt>
            </c:numLit>
          </c:val>
        </c:ser>
        <c:ser>
          <c:idx val="1"/>
          <c:order val="1"/>
          <c:tx>
            <c:v>平均</c:v>
          </c:tx>
          <c:spPr>
            <a:solidFill xmlns:a="http://schemas.openxmlformats.org/drawingml/2006/main">
              <a:srgbClr val="00F2FE"/>
            </a:solidFill>
          </c:spPr>
          <c:invertIfNegative val="0"/>
          <c:cat>
            <c:strLit>
              <c:ptCount val="2"/>
              <c:pt idx="0">
                <c:v>組合 A：金額＋訂單日期</c:v>
              </c:pt>
              <c:pt idx="1">
                <c:v>組合 B：三個次要欄位</c:v>
              </c:pt>
            </c:strLit>
          </c:cat>
          <c:val>
            <c:numLit>
              <c:formatCode>General</c:formatCode>
              <c:ptCount val="2"/>
              <c:pt idx="0">
                <c:v>2.8</c:v>
              </c:pt>
              <c:pt idx="1">
                <c:v>2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  <a:latin typeface="Noto Sans TC"/>
                  <a:ea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D6D3F0"/>
                </a:solidFill>
                <a:latin typeface="Noto Sans TC"/>
                <a:ea typeface="Noto Sans TC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FFFFF">
                  <a:alpha val="14901"/>
                </a:srgb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D6D3F0"/>
                </a:solidFill>
                <a:latin typeface="Noto Sans TC"/>
                <a:ea typeface="Noto Sans TC"/>
              </a:defRPr>
            </a:pPr>
          </a:p>
        </c:txPr>
        <c:crossAx val="1"/>
        <c:crosses val="autoZero"/>
        <c:crossBetween val="between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defRPr sz="1100">
              <a:solidFill>
                <a:srgbClr val="D6D3F0"/>
              </a:solidFill>
              <a:latin typeface="Noto Sans TC"/>
              <a:ea typeface="Noto Sans TC"/>
            </a:defRPr>
          </a:pPr>
        </a:p>
      </c:txPr>
    </c:legend>
    <c:plotVisOnly val="1"/>
    <c:dispBlanksAs val="gap"/>
  </c:chart>
  <c:spPr>
    <a:noFill xmlns:a="http://schemas.openxmlformats.org/drawingml/2006/main"/>
  </c:spPr>
</c:chartSpace>
</file>

<file path=ppt/slides/slide1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" name="!!orb-violet"/>
          <p:cNvSpPr/>
          <p:nvPr/>
        </p:nvSpPr>
        <p:spPr>
          <a:xfrm xmlns:a="http://schemas.openxmlformats.org/drawingml/2006/main">
            <a:off x="5577840" y="-1097280"/>
            <a:ext cx="4023360" cy="402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100584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" name="!!orb-pink"/>
          <p:cNvSpPr/>
          <p:nvPr/>
        </p:nvSpPr>
        <p:spPr>
          <a:xfrm xmlns:a="http://schemas.openxmlformats.org/drawingml/2006/main">
            <a:off x="4206240" y="310896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82296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" name="!!orb-cyan"/>
          <p:cNvSpPr/>
          <p:nvPr/>
        </p:nvSpPr>
        <p:spPr>
          <a:xfrm xmlns:a="http://schemas.openxmlformats.org/drawingml/2006/main">
            <a:off x="0" y="384048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41148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" name="TextBox 4"/>
          <p:cNvSpPr/>
          <p:nvPr/>
        </p:nvSpPr>
        <p:spPr>
          <a:xfrm xmlns:a="http://schemas.openxmlformats.org/drawingml/2006/main">
            <a:off x="320040" y="1097280"/>
            <a:ext cx="658368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5" name="TextBox 5"/>
          <p:cNvSpPr txBox="1"/>
          <p:nvPr/>
        </p:nvSpPr>
        <p:spPr>
          <a:xfrm xmlns:a="http://schemas.openxmlformats.org/drawingml/2006/main">
            <a:off x="640080" y="1325880"/>
            <a:ext cx="603504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600" b="1" spc="300">
                <a:solidFill>
                  <a:srgbClr val="00F2FE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1006" name="TextBox 6"/>
          <p:cNvSpPr txBox="1"/>
          <p:nvPr/>
        </p:nvSpPr>
        <p:spPr>
          <a:xfrm xmlns:a="http://schemas.openxmlformats.org/drawingml/2006/main">
            <a:off x="640080" y="1691640"/>
            <a:ext cx="6035040" cy="16002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ts val="5940"/>
              </a:lnSpc>
            </a:pPr>
            <a:r>
              <a:rPr lang="zh-TW" sz="5400" b="1">
                <a:solidFill>
                  <a:srgbClr val="FFFFFF"/>
                </a:solidFill>
                <a:latin typeface="Noto Sans TC"/>
                <a:ea typeface="Noto Sans TC"/>
              </a:rPr>
              <a:t>JEV 只做判斷，</a:t>
            </a:r>
          </a:p>
          <a:p xmlns:a="http://schemas.openxmlformats.org/drawingml/2006/main">
            <a:pPr>
              <a:lnSpc>
                <a:spcPts val="5940"/>
              </a:lnSpc>
            </a:pPr>
            <a:r>
              <a:rPr lang="zh-TW" sz="5400" b="1">
                <a:solidFill>
                  <a:srgbClr val="FFFFFF"/>
                </a:solidFill>
                <a:latin typeface="Noto Sans TC"/>
                <a:ea typeface="Noto Sans TC"/>
              </a:rPr>
              <a:t>其他交給規則</a:t>
            </a:r>
          </a:p>
        </p:txBody>
      </p:sp>
      <p:sp>
        <p:nvSpPr>
          <p:cNvPr id="1007" name="TextBox 7"/>
          <p:cNvSpPr txBox="1"/>
          <p:nvPr/>
        </p:nvSpPr>
        <p:spPr>
          <a:xfrm xmlns:a="http://schemas.openxmlformats.org/drawingml/2006/main">
            <a:off x="640080" y="3383280"/>
            <a:ext cx="603504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600" b="1">
                <a:solidFill>
                  <a:srgbClr val="D6D3F0"/>
                </a:solidFill>
                <a:latin typeface="Noto Sans TC"/>
                <a:ea typeface="Noto Sans TC"/>
              </a:rPr>
              <a:t>智慧化產製儀表板的流程與方法</a:t>
            </a:r>
          </a:p>
        </p:txBody>
      </p:sp>
      <p:sp>
        <p:nvSpPr>
          <p:cNvPr id="1008" name="TextBox 8"/>
          <p:cNvSpPr txBox="1"/>
          <p:nvPr/>
        </p:nvSpPr>
        <p:spPr>
          <a:xfrm xmlns:a="http://schemas.openxmlformats.org/drawingml/2006/main">
            <a:off x="640080" y="3840480"/>
            <a:ext cx="603504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內部技術分享 · 2026.10</a:t>
            </a:r>
          </a:p>
        </p:txBody>
      </p:sp>
    </p:spTree>
  </p:cSld>
  <p:transition xmlns:p="http://schemas.openxmlformats.org/presentationml/2006/main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1" dur="600" fill="hold"/>
                                        <p:tgtEl>
                                          <p:spTgt spid="100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" grpId="0"/>
      <p:bldP spid="1006" grpId="1"/>
      <p:bldP spid="1007" grpId="2"/>
      <p:bldP spid="1008" grpId="3"/>
    </p:bld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2001" name="!!orb-violet"/>
          <p:cNvSpPr/>
          <p:nvPr/>
        </p:nvSpPr>
        <p:spPr>
          <a:xfrm>
            <a:off x="7223760" y="2834640"/>
            <a:ext cx="3291840" cy="329184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822960"/>
          </a:effectLst>
        </p:spPr>
        <p:txBody>
          <a:bodyPr/>
          <a:lstStyle/>
          <a:p/>
        </p:txBody>
      </p:sp>
      <p:sp>
        <p:nvSpPr>
          <p:cNvPr id="2002" name="!!orb-pink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31520"/>
          </a:effectLst>
        </p:spPr>
        <p:txBody>
          <a:bodyPr/>
          <a:lstStyle/>
          <a:p/>
        </p:txBody>
      </p:sp>
      <p:sp>
        <p:nvSpPr>
          <p:cNvPr id="2003" name="!!orb-cyan"/>
          <p:cNvSpPr/>
          <p:nvPr/>
        </p:nvSpPr>
        <p:spPr>
          <a:xfrm>
            <a:off x="3840480" y="4480560"/>
            <a:ext cx="1463040" cy="146304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65760"/>
          </a:effectLst>
        </p:spPr>
        <p:txBody>
          <a:bodyPr/>
          <a:lstStyle/>
          <a:p/>
        </p:txBody>
      </p:sp>
      <p:sp>
        <p:nvSpPr>
          <p:cNvPr id="2004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effectLst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直接叫模型產設定檔，會碰到三個問題</a:t>
            </a:r>
          </a:p>
        </p:txBody>
      </p:sp>
      <p:sp>
        <p:nvSpPr>
          <p:cNvPr id="2005" name="TextBox 5"/>
          <p:cNvSpPr/>
          <p:nvPr/>
        </p:nvSpPr>
        <p:spPr>
          <a:xfrm>
            <a:off x="45720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006" name="TextBox 6"/>
          <p:cNvSpPr txBox="1"/>
          <p:nvPr/>
        </p:nvSpPr>
        <p:spPr>
          <a:xfrm>
            <a:off x="685800" y="1691640"/>
            <a:ext cx="91440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00F2FE"/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2007" name="TextBox 7"/>
          <p:cNvSpPr txBox="1"/>
          <p:nvPr/>
        </p:nvSpPr>
        <p:spPr>
          <a:xfrm>
            <a:off x="685800" y="2194560"/>
            <a:ext cx="2103120" cy="41148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結果不可重現</a:t>
            </a:r>
          </a:p>
        </p:txBody>
      </p:sp>
      <p:sp>
        <p:nvSpPr>
          <p:cNvPr id="2008" name="TextBox 8"/>
          <p:cNvSpPr txBox="1"/>
          <p:nvPr/>
        </p:nvSpPr>
        <p:spPr>
          <a:xfrm>
            <a:off x="685800" y="2697480"/>
            <a:ext cx="2103120" cy="123444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同一份資料問兩次，可能拿到兩份不同的設定檔</a:t>
            </a:r>
          </a:p>
        </p:txBody>
      </p:sp>
      <p:sp>
        <p:nvSpPr>
          <p:cNvPr id="2009" name="TextBox 9"/>
          <p:cNvSpPr/>
          <p:nvPr/>
        </p:nvSpPr>
        <p:spPr>
          <a:xfrm>
            <a:off x="329184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010" name="TextBox 10"/>
          <p:cNvSpPr txBox="1"/>
          <p:nvPr/>
        </p:nvSpPr>
        <p:spPr>
          <a:xfrm>
            <a:off x="3520440" y="1691640"/>
            <a:ext cx="91440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00F2FE"/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2011" name="TextBox 11"/>
          <p:cNvSpPr txBox="1"/>
          <p:nvPr/>
        </p:nvSpPr>
        <p:spPr>
          <a:xfrm>
            <a:off x="3520440" y="2194560"/>
            <a:ext cx="2103120" cy="41148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畫出不合理的圖</a:t>
            </a:r>
          </a:p>
        </p:txBody>
      </p:sp>
      <p:sp>
        <p:nvSpPr>
          <p:cNvPr id="2012" name="TextBox 12"/>
          <p:cNvSpPr txBox="1"/>
          <p:nvPr/>
        </p:nvSpPr>
        <p:spPr>
          <a:xfrm>
            <a:off x="3520440" y="2697480"/>
            <a:ext cx="2103120" cy="123444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例如把兩個分類欄位硬湊成散佈圖</a:t>
            </a:r>
          </a:p>
        </p:txBody>
      </p:sp>
      <p:sp>
        <p:nvSpPr>
          <p:cNvPr id="2013" name="TextBox 13"/>
          <p:cNvSpPr/>
          <p:nvPr/>
        </p:nvSpPr>
        <p:spPr>
          <a:xfrm>
            <a:off x="612648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014" name="TextBox 14"/>
          <p:cNvSpPr txBox="1"/>
          <p:nvPr/>
        </p:nvSpPr>
        <p:spPr>
          <a:xfrm>
            <a:off x="6355080" y="1691640"/>
            <a:ext cx="91440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00F2FE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2015" name="TextBox 15"/>
          <p:cNvSpPr txBox="1"/>
          <p:nvPr/>
        </p:nvSpPr>
        <p:spPr>
          <a:xfrm>
            <a:off x="6355080" y="2194560"/>
            <a:ext cx="2103120" cy="41148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題目塞不進一次請求</a:t>
            </a:r>
          </a:p>
        </p:txBody>
      </p:sp>
      <p:sp>
        <p:nvSpPr>
          <p:cNvPr id="2016" name="TextBox 16"/>
          <p:cNvSpPr txBox="1"/>
          <p:nvPr/>
        </p:nvSpPr>
        <p:spPr>
          <a:xfrm>
            <a:off x="6355080" y="2697480"/>
            <a:ext cx="2103120" cy="123444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50 個欄位兩兩配對就有 1225 組，很容易超過 64k token</a:t>
            </a:r>
          </a:p>
        </p:txBody>
      </p:sp>
      <p:sp>
        <p:nvSpPr>
          <p:cNvPr id="2017" name="TextBox 17"/>
          <p:cNvSpPr txBox="1"/>
          <p:nvPr/>
        </p:nvSpPr>
        <p:spPr>
          <a:xfrm>
            <a:off x="457200" y="4572000"/>
            <a:ext cx="4572000" cy="288000"/>
          </a:xfrm>
          <a:prstGeom prst="rect">
            <a:avLst/>
          </a:prstGeom>
        </p:spPr>
        <p:txBody>
          <a:bodyPr/>
          <a:lstStyle/>
          <a:p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2018" name="TextBox 18"/>
          <p:cNvSpPr txBox="1"/>
          <p:nvPr/>
        </p:nvSpPr>
        <p:spPr>
          <a:xfrm>
            <a:off x="7772400" y="4572000"/>
            <a:ext cx="914400" cy="288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02</a:t>
            </a:r>
          </a:p>
        </p:txBody>
      </p:sp>
    </p:spTree>
  </p:cSld>
  <mc:AlternateContent>
    <mc:Choice Requires="p159">
      <p:transition xmlns:p159="http://schemas.microsoft.com/office/powerpoint/2015/09/main"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2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2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2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2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2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00" fill="hold"/>
                                        <p:tgtEl>
                                          <p:spTgt spid="2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2" presetClass="emph" presetSubtype="0" dur="400" fill="hold" grpId="12" nodeType="after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Rot by="120000">
                                      <p:cBhvr>
                                        <p:cTn id="7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2" presetClass="emph" presetSubtype="0" dur="400" fill="hold" grpId="13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Rot by="120000">
                                      <p:cBhvr>
                                        <p:cTn id="8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2" presetClass="emph" presetSubtype="0" dur="400" fill="hold" grpId="14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Rot by="120000">
                                      <p:cBhvr>
                                        <p:cTn id="93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2" presetClass="emph" presetSubtype="0" dur="400" fill="hold" grpId="15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Rot by="120000">
                                      <p:cBhvr>
                                        <p:cTn id="10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5" grpId="0"/>
      <p:bldP spid="2006" grpId="1"/>
      <p:bldP spid="2007" grpId="2"/>
      <p:bldP spid="2008" grpId="3"/>
      <p:bldP spid="2009" grpId="4"/>
      <p:bldP spid="2010" grpId="5"/>
      <p:bldP spid="2011" grpId="6"/>
      <p:bldP spid="2012" grpId="7"/>
      <p:bldP spid="2013" grpId="8"/>
      <p:bldP spid="2014" grpId="9"/>
      <p:bldP spid="2015" grpId="10"/>
      <p:bldP spid="2016" grpId="11"/>
    </p:bld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 mc:Ignorable="p159">
  <p:cSld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>
    <p:bg>
      <p:bgPr>
        <a:gradFill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3001" name="!!orb-violet"/>
          <p:cNvSpPr/>
          <p:nvPr/>
        </p:nvSpPr>
        <p:spPr>
          <a:xfrm>
            <a:off x="-1371600" y="3291840"/>
            <a:ext cx="3108960" cy="310896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777240"/>
          </a:effectLst>
        </p:spPr>
        <p:txBody>
          <a:bodyPr/>
          <a:lstStyle/>
          <a:p/>
        </p:txBody>
      </p:sp>
      <p:sp>
        <p:nvSpPr>
          <p:cNvPr id="3002" name="!!orb-pink"/>
          <p:cNvSpPr/>
          <p:nvPr/>
        </p:nvSpPr>
        <p:spPr>
          <a:xfrm>
            <a:off x="7315200" y="-1463040"/>
            <a:ext cx="3291840" cy="329184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822960"/>
          </a:effectLst>
        </p:spPr>
        <p:txBody>
          <a:bodyPr/>
          <a:lstStyle/>
          <a:p/>
        </p:txBody>
      </p:sp>
      <p:sp>
        <p:nvSpPr>
          <p:cNvPr id="3003" name="!!orb-cyan"/>
          <p:cNvSpPr/>
          <p:nvPr/>
        </p:nvSpPr>
        <p:spPr>
          <a:xfrm>
            <a:off x="3931920" y="-640080"/>
            <a:ext cx="1280160" cy="128016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20040"/>
          </a:effectLst>
        </p:spPr>
        <p:txBody>
          <a:bodyPr/>
          <a:lstStyle/>
          <a:p/>
        </p:txBody>
      </p:sp>
      <p:sp>
        <p:nvSpPr>
          <p:cNvPr id="3004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effectLst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JEV 只回答題目，合法性、彙總和版面都由後端決定</a:t>
            </a:r>
          </a:p>
        </p:txBody>
      </p:sp>
      <p:sp>
        <p:nvSpPr>
          <p:cNvPr id="3005" name="TextBox 5"/>
          <p:cNvSpPr/>
          <p:nvPr/>
        </p:nvSpPr>
        <p:spPr>
          <a:xfrm>
            <a:off x="457200" y="1417320"/>
            <a:ext cx="3977640" cy="2514600"/>
          </a:xfrm>
          <a:prstGeom prst="roundRect">
            <a:avLst>
              <a:gd name="adj" fmla="val 436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3006" name="TextBox 6"/>
          <p:cNvSpPr txBox="1"/>
          <p:nvPr/>
        </p:nvSpPr>
        <p:spPr>
          <a:xfrm>
            <a:off x="731520" y="1600200"/>
            <a:ext cx="34747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00F2FE"/>
                </a:solidFill>
                <a:latin typeface="Noto Sans TC"/>
                <a:ea typeface="Noto Sans TC"/>
              </a:rPr>
              <a:t>JEV 判斷</a:t>
            </a:r>
          </a:p>
        </p:txBody>
      </p:sp>
      <p:sp>
        <p:nvSpPr>
          <p:cNvPr id="3007" name="TextBox 7"/>
          <p:cNvSpPr/>
          <p:nvPr/>
        </p:nvSpPr>
        <p:spPr>
          <a:xfrm>
            <a:off x="731520" y="2240280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8" name="TextBox 8"/>
          <p:cNvSpPr txBox="1"/>
          <p:nvPr/>
        </p:nvSpPr>
        <p:spPr>
          <a:xfrm>
            <a:off x="914400" y="2103120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欄位重不重要</a:t>
            </a:r>
          </a:p>
        </p:txBody>
      </p:sp>
      <p:sp>
        <p:nvSpPr>
          <p:cNvPr id="3009" name="TextBox 9"/>
          <p:cNvSpPr/>
          <p:nvPr/>
        </p:nvSpPr>
        <p:spPr>
          <a:xfrm>
            <a:off x="731520" y="2679192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0" name="TextBox 10"/>
          <p:cNvSpPr txBox="1"/>
          <p:nvPr/>
        </p:nvSpPr>
        <p:spPr>
          <a:xfrm>
            <a:off x="914400" y="2542032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欄位扮演什麼角色</a:t>
            </a:r>
          </a:p>
        </p:txBody>
      </p:sp>
      <p:sp>
        <p:nvSpPr>
          <p:cNvPr id="3011" name="TextBox 11"/>
          <p:cNvSpPr/>
          <p:nvPr/>
        </p:nvSpPr>
        <p:spPr>
          <a:xfrm>
            <a:off x="731520" y="3118104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2" name="TextBox 12"/>
          <p:cNvSpPr txBox="1"/>
          <p:nvPr/>
        </p:nvSpPr>
        <p:spPr>
          <a:xfrm>
            <a:off x="914400" y="2980944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這組欄位該畫哪種圖</a:t>
            </a:r>
          </a:p>
        </p:txBody>
      </p:sp>
      <p:sp>
        <p:nvSpPr>
          <p:cNvPr id="3013" name="TextBox 13"/>
          <p:cNvSpPr/>
          <p:nvPr/>
        </p:nvSpPr>
        <p:spPr>
          <a:xfrm>
            <a:off x="731520" y="3557016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4" name="TextBox 14"/>
          <p:cNvSpPr txBox="1"/>
          <p:nvPr/>
        </p:nvSpPr>
        <p:spPr>
          <a:xfrm>
            <a:off x="914400" y="3419856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資料有沒有異常</a:t>
            </a:r>
          </a:p>
        </p:txBody>
      </p:sp>
      <p:sp>
        <p:nvSpPr>
          <p:cNvPr id="3015" name="TextBox 15"/>
          <p:cNvSpPr/>
          <p:nvPr/>
        </p:nvSpPr>
        <p:spPr>
          <a:xfrm>
            <a:off x="4709160" y="1417320"/>
            <a:ext cx="3977640" cy="2514600"/>
          </a:xfrm>
          <a:prstGeom prst="roundRect">
            <a:avLst>
              <a:gd name="adj" fmla="val 436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3016" name="TextBox 16"/>
          <p:cNvSpPr txBox="1"/>
          <p:nvPr/>
        </p:nvSpPr>
        <p:spPr>
          <a:xfrm>
            <a:off x="4983480" y="1600200"/>
            <a:ext cx="34747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後端規則決定</a:t>
            </a:r>
          </a:p>
        </p:txBody>
      </p:sp>
      <p:sp>
        <p:nvSpPr>
          <p:cNvPr id="3017" name="TextBox 17"/>
          <p:cNvSpPr/>
          <p:nvPr/>
        </p:nvSpPr>
        <p:spPr>
          <a:xfrm>
            <a:off x="4983480" y="2240280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8" name="TextBox 18"/>
          <p:cNvSpPr txBox="1"/>
          <p:nvPr/>
        </p:nvSpPr>
        <p:spPr>
          <a:xfrm>
            <a:off x="5166360" y="2103120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哪些圖表組合合法</a:t>
            </a:r>
          </a:p>
        </p:txBody>
      </p:sp>
      <p:sp>
        <p:nvSpPr>
          <p:cNvPr id="3019" name="TextBox 19"/>
          <p:cNvSpPr/>
          <p:nvPr/>
        </p:nvSpPr>
        <p:spPr>
          <a:xfrm>
            <a:off x="4983480" y="2679192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0" name="TextBox 20"/>
          <p:cNvSpPr txBox="1"/>
          <p:nvPr/>
        </p:nvSpPr>
        <p:spPr>
          <a:xfrm>
            <a:off x="5166360" y="2542032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資料怎麼彙總</a:t>
            </a:r>
          </a:p>
        </p:txBody>
      </p:sp>
      <p:sp>
        <p:nvSpPr>
          <p:cNvPr id="3021" name="TextBox 21"/>
          <p:cNvSpPr/>
          <p:nvPr/>
        </p:nvSpPr>
        <p:spPr>
          <a:xfrm>
            <a:off x="4983480" y="3118104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2" name="TextBox 22"/>
          <p:cNvSpPr txBox="1"/>
          <p:nvPr/>
        </p:nvSpPr>
        <p:spPr>
          <a:xfrm>
            <a:off x="5166360" y="2980944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mapping 和版面怎麼排</a:t>
            </a:r>
          </a:p>
        </p:txBody>
      </p:sp>
      <p:sp>
        <p:nvSpPr>
          <p:cNvPr id="3023" name="TextBox 23"/>
          <p:cNvSpPr/>
          <p:nvPr/>
        </p:nvSpPr>
        <p:spPr>
          <a:xfrm>
            <a:off x="4983480" y="3557016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4" name="TextBox 24"/>
          <p:cNvSpPr txBox="1"/>
          <p:nvPr/>
        </p:nvSpPr>
        <p:spPr>
          <a:xfrm>
            <a:off x="5166360" y="3419856"/>
            <a:ext cx="3337560" cy="36576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答案要不要採用</a:t>
            </a:r>
          </a:p>
        </p:txBody>
      </p:sp>
      <p:sp>
        <p:nvSpPr>
          <p:cNvPr id="3025" name="TextBox 2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</p:spPr>
        <p:txBody>
          <a:bodyPr/>
          <a:lstStyle/>
          <a:p>
            <a:r>
              <a:rPr lang="zh-TW" sz="1400" b="1">
                <a:solidFill>
                  <a:srgbClr val="00F2FE"/>
                </a:solidFill>
                <a:latin typeface="Noto Sans TC"/>
                <a:ea typeface="Noto Sans TC"/>
              </a:rPr>
              <a:t>同一份資料加同一組答案，永遠組出同一份設定檔</a:t>
            </a:r>
          </a:p>
        </p:txBody>
      </p:sp>
      <p:sp>
        <p:nvSpPr>
          <p:cNvPr id="3026" name="TextBox 26"/>
          <p:cNvSpPr txBox="1"/>
          <p:nvPr/>
        </p:nvSpPr>
        <p:spPr>
          <a:xfrm>
            <a:off x="457200" y="4572000"/>
            <a:ext cx="4572000" cy="288000"/>
          </a:xfrm>
          <a:prstGeom prst="rect">
            <a:avLst/>
          </a:prstGeom>
        </p:spPr>
        <p:txBody>
          <a:bodyPr/>
          <a:lstStyle/>
          <a:p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3027" name="TextBox 27"/>
          <p:cNvSpPr txBox="1"/>
          <p:nvPr/>
        </p:nvSpPr>
        <p:spPr>
          <a:xfrm>
            <a:off x="7772400" y="4572000"/>
            <a:ext cx="914400" cy="288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03</a:t>
            </a:r>
          </a:p>
        </p:txBody>
      </p:sp>
    </p:spTree>
  </p:cSld>
  <mc:AlternateContent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>
    <mc:Choice Requires="p159">
      <p:transition xmlns:p159="http://schemas.microsoft.com/office/powerpoint/2015/09/main" p14:dur="1200">
        <p159:morph option="byObject"/>
      </p:transition>
    </mc:Choice>
    <mc:Fallback>
      <p:transition>
        <p:fade/>
      </p:transition>
    </mc:Fallback>
  </mc:AlternateContent>
  <p:timing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400"/>
                                        <p:tgtEl>
                                          <p:spTgt spid="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00"/>
                                        <p:tgtEl>
                                          <p:spTgt spid="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"/>
                                        <p:tgtEl>
                                          <p:spTgt spid="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400"/>
                                        <p:tgtEl>
                                          <p:spTgt spid="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400"/>
                                        <p:tgtEl>
                                          <p:spTgt spid="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40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00"/>
                                        <p:tgtEl>
                                          <p:spTgt spid="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400"/>
                                        <p:tgtEl>
                                          <p:spTgt spid="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400"/>
                                        <p:tgtEl>
                                          <p:spTgt spid="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00"/>
                                        <p:tgtEl>
                                          <p:spTgt spid="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4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400"/>
                                        <p:tgtEl>
                                          <p:spTgt spid="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400"/>
                                        <p:tgtEl>
                                          <p:spTgt spid="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400"/>
                                        <p:tgtEl>
                                          <p:spTgt spid="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07" dur="400" fill="hold"/>
                                        <p:tgtEl>
                                          <p:spTgt spid="302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dur="400" fill="hold" grpId="21" nodeType="after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Effect transition="out" filter="fade">
                                      <p:cBhvr>
                                        <p:cTn id="111" dur="400" tmFilter="0, 0; .2, .5; .8, .5; 1, 0"/>
                                        <p:tgtEl>
                                          <p:spTgt spid="30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30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5" grpId="0"/>
      <p:bldP spid="3006" grpId="1"/>
      <p:bldP spid="3007" grpId="2"/>
      <p:bldP spid="3008" grpId="3"/>
      <p:bldP spid="3009" grpId="4"/>
      <p:bldP spid="3010" grpId="5"/>
      <p:bldP spid="3011" grpId="6"/>
      <p:bldP spid="3012" grpId="7"/>
      <p:bldP spid="3013" grpId="8"/>
      <p:bldP spid="3014" grpId="9"/>
      <p:bldP spid="3015" grpId="10"/>
      <p:bldP spid="3016" grpId="11"/>
      <p:bldP spid="3017" grpId="12"/>
      <p:bldP spid="3018" grpId="13"/>
      <p:bldP spid="3019" grpId="14"/>
      <p:bldP spid="3020" grpId="15"/>
      <p:bldP spid="3021" grpId="16"/>
      <p:bldP spid="3022" grpId="17"/>
      <p:bldP spid="3023" grpId="18"/>
      <p:bldP spid="3024" grpId="19"/>
      <p:bldP spid="3025" grpId="2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xmlns:p="http://schemas.openxmlformats.org/presentationml/2006/main" xmlns:a="http://schemas.openxmlformats.org/drawingml/2006/main" xmlns:r="http://schemas.openxmlformats.org/officeDocument/2006/relationships"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4001" name="!!orb-violet"/>
          <p:cNvSpPr/>
          <p:nvPr/>
        </p:nvSpPr>
        <p:spPr>
          <a:xfrm xmlns:a="http://schemas.openxmlformats.org/drawingml/2006/main">
            <a:off x="2743200" y="36576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9144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02" name="!!orb-pink"/>
          <p:cNvSpPr/>
          <p:nvPr/>
        </p:nvSpPr>
        <p:spPr>
          <a:xfrm xmlns:a="http://schemas.openxmlformats.org/drawingml/2006/main">
            <a:off x="-1554480" y="118872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6858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03" name="!!orb-cyan"/>
          <p:cNvSpPr/>
          <p:nvPr/>
        </p:nvSpPr>
        <p:spPr>
          <a:xfrm xmlns:a="http://schemas.openxmlformats.org/drawingml/2006/main">
            <a:off x="8321040" y="173736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41148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04" name="TextBox 4"/>
          <p:cNvSpPr txBox="1"/>
          <p:nvPr/>
        </p:nvSpPr>
        <p:spPr>
          <a:xfrm xmlns:a="http://schemas.openxmlformats.org/drawingml/2006/main">
            <a:off x="457200" y="365760"/>
            <a:ext cx="8229600" cy="822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八個步驟裡，JEV 只出現在三步</a:t>
            </a:r>
          </a:p>
        </p:txBody>
      </p:sp>
      <p:sp>
        <p:nvSpPr>
          <p:cNvPr id="4005" name="TextBox 5"/>
          <p:cNvSpPr/>
          <p:nvPr/>
        </p:nvSpPr>
        <p:spPr>
          <a:xfrm xmlns:a="http://schemas.openxmlformats.org/drawingml/2006/main">
            <a:off x="457200" y="150876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01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資料接入</a:t>
            </a:r>
          </a:p>
        </p:txBody>
      </p:sp>
      <p:sp>
        <p:nvSpPr>
          <p:cNvPr id="4006" name="TextBox 6"/>
          <p:cNvSpPr/>
          <p:nvPr/>
        </p:nvSpPr>
        <p:spPr>
          <a:xfrm xmlns:a="http://schemas.openxmlformats.org/drawingml/2006/main">
            <a:off x="2621585" y="150876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02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型別推斷</a:t>
            </a:r>
          </a:p>
        </p:txBody>
      </p:sp>
      <p:sp>
        <p:nvSpPr>
          <p:cNvPr id="4007" name="TextBox 7">
            <a:hlinkClick r:id="Ra760a25aa1114f5e" action="ppaction://hlinksldjump"/>
          </p:cNvPr>
          <p:cNvSpPr/>
          <p:nvPr/>
        </p:nvSpPr>
        <p:spPr>
          <a:xfrm xmlns:a="http://schemas.openxmlformats.org/drawingml/2006/main">
            <a:off x="4785055" y="150876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F2FE">
              <a:alpha val="20000"/>
            </a:srgbClr>
          </a:solidFill>
          <a:ln xmlns:a="http://schemas.openxmlformats.org/drawingml/2006/main" w="15875">
            <a:solidFill>
              <a:srgbClr val="00F2FE"/>
            </a:solidFill>
          </a:ln>
          <a:effectLst xmlns:a="http://schemas.openxmlformats.org/drawingml/2006/main">
            <a:glow rad="101600">
              <a:srgbClr val="00F2FE">
                <a:alpha val="45000"/>
              </a:srgbClr>
            </a:glow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03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第一輪：欄位評估</a:t>
            </a:r>
          </a:p>
        </p:txBody>
      </p:sp>
      <p:sp>
        <p:nvSpPr>
          <p:cNvPr id="4008" name="TextBox 8">
            <a:hlinkClick r:id="Rc87930b2922a4645" action="ppaction://hlinksldjump"/>
          </p:cNvPr>
          <p:cNvSpPr/>
          <p:nvPr/>
        </p:nvSpPr>
        <p:spPr>
          <a:xfrm xmlns:a="http://schemas.openxmlformats.org/drawingml/2006/main">
            <a:off x="6949440" y="150876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04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候選與合法組合</a:t>
            </a:r>
          </a:p>
        </p:txBody>
      </p:sp>
      <p:sp>
        <p:nvSpPr>
          <p:cNvPr id="4009" name="TextBox 9">
            <a:hlinkClick r:id="Rfd24cbf8433b4456" action="ppaction://hlinksldjump"/>
          </p:cNvPr>
          <p:cNvSpPr/>
          <p:nvPr/>
        </p:nvSpPr>
        <p:spPr>
          <a:xfrm xmlns:a="http://schemas.openxmlformats.org/drawingml/2006/main">
            <a:off x="6949440" y="297180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F2FE">
              <a:alpha val="20000"/>
            </a:srgbClr>
          </a:solidFill>
          <a:ln xmlns:a="http://schemas.openxmlformats.org/drawingml/2006/main" w="15875">
            <a:solidFill>
              <a:srgbClr val="00F2FE"/>
            </a:solidFill>
          </a:ln>
          <a:effectLst xmlns:a="http://schemas.openxmlformats.org/drawingml/2006/main">
            <a:glow rad="101600">
              <a:srgbClr val="00F2FE">
                <a:alpha val="45000"/>
              </a:srgbClr>
            </a:glow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05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第二輪：選圖</a:t>
            </a:r>
          </a:p>
        </p:txBody>
      </p:sp>
      <p:sp>
        <p:nvSpPr>
          <p:cNvPr id="4010" name="TextBox 10"/>
          <p:cNvSpPr/>
          <p:nvPr/>
        </p:nvSpPr>
        <p:spPr>
          <a:xfrm xmlns:a="http://schemas.openxmlformats.org/drawingml/2006/main">
            <a:off x="4785055" y="297180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06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組裝 mapping 與版面</a:t>
            </a:r>
          </a:p>
        </p:txBody>
      </p:sp>
      <p:sp>
        <p:nvSpPr>
          <p:cNvPr id="4011" name="TextBox 11"/>
          <p:cNvSpPr/>
          <p:nvPr/>
        </p:nvSpPr>
        <p:spPr>
          <a:xfrm xmlns:a="http://schemas.openxmlformats.org/drawingml/2006/main">
            <a:off x="2621585" y="297180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07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預覽與儲存</a:t>
            </a:r>
          </a:p>
        </p:txBody>
      </p:sp>
      <p:sp>
        <p:nvSpPr>
          <p:cNvPr id="4012" name="TextBox 12">
            <a:hlinkClick r:id="R547fe2e9408f47bb" action="ppaction://hlinksldjump"/>
          </p:cNvPr>
          <p:cNvSpPr/>
          <p:nvPr/>
        </p:nvSpPr>
        <p:spPr>
          <a:xfrm xmlns:a="http://schemas.openxmlformats.org/drawingml/2006/main">
            <a:off x="457200" y="2971800"/>
            <a:ext cx="173736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F2FE">
              <a:alpha val="20000"/>
            </a:srgbClr>
          </a:solidFill>
          <a:ln xmlns:a="http://schemas.openxmlformats.org/drawingml/2006/main" w="15875">
            <a:solidFill>
              <a:srgbClr val="00F2FE"/>
            </a:solidFill>
          </a:ln>
          <a:effectLst xmlns:a="http://schemas.openxmlformats.org/drawingml/2006/main">
            <a:glow rad="101600">
              <a:srgbClr val="00F2FE">
                <a:alpha val="45000"/>
              </a:srgbClr>
            </a:glow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>
                <a:solidFill>
                  <a:srgbClr val="00F2FE"/>
                </a:solidFill>
                <a:latin typeface="Noto Sans TC"/>
                <a:ea typeface="Noto Sans TC"/>
              </a:rPr>
              <a:t>08</a:t>
            </a:r>
          </a:p>
          <a:p xmlns:a="http://schemas.openxmlformats.org/drawingml/2006/main">
            <a:pPr algn="ctr"/>
            <a:r>
              <a:rPr lang="zh-TW" sz="1300" b="1">
                <a:solidFill>
                  <a:srgbClr val="FFFFFF"/>
                </a:solidFill>
                <a:latin typeface="Noto Sans TC"/>
                <a:ea typeface="Noto Sans TC"/>
              </a:rPr>
              <a:t>載入時異常檢查</a:t>
            </a:r>
          </a:p>
        </p:txBody>
      </p:sp>
      <p:cxnSp>
        <p:nvCxnSpPr>
          <p:cNvPr id="4013" name="Connector 1"/>
          <p:cNvCxnSpPr>
            <a:stCxn xmlns:a="http://schemas.openxmlformats.org/drawingml/2006/main" id="4005" idx="3"/>
            <a:endCxn xmlns:a="http://schemas.openxmlformats.org/drawingml/2006/main" id="4006" idx="1"/>
          </p:cNvCxnSpPr>
          <p:nvPr/>
        </p:nvCxnSpPr>
        <p:spPr>
          <a:xfrm xmlns:a="http://schemas.openxmlformats.org/drawingml/2006/main">
            <a:off x="2194560" y="1874520"/>
            <a:ext cx="427025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4014" name="Connector 2"/>
          <p:cNvCxnSpPr>
            <a:stCxn xmlns:a="http://schemas.openxmlformats.org/drawingml/2006/main" id="4006" idx="3"/>
            <a:endCxn xmlns:a="http://schemas.openxmlformats.org/drawingml/2006/main" id="4007" idx="1"/>
          </p:cNvCxnSpPr>
          <p:nvPr/>
        </p:nvCxnSpPr>
        <p:spPr>
          <a:xfrm xmlns:a="http://schemas.openxmlformats.org/drawingml/2006/main">
            <a:off x="4358945" y="1874520"/>
            <a:ext cx="42611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4015" name="Connector 3"/>
          <p:cNvCxnSpPr>
            <a:stCxn xmlns:a="http://schemas.openxmlformats.org/drawingml/2006/main" id="4007" idx="3"/>
            <a:endCxn xmlns:a="http://schemas.openxmlformats.org/drawingml/2006/main" id="4008" idx="1"/>
          </p:cNvCxnSpPr>
          <p:nvPr/>
        </p:nvCxnSpPr>
        <p:spPr>
          <a:xfrm xmlns:a="http://schemas.openxmlformats.org/drawingml/2006/main">
            <a:off x="6522415" y="1874520"/>
            <a:ext cx="427025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4016" name="Connector 4"/>
          <p:cNvCxnSpPr>
            <a:stCxn xmlns:a="http://schemas.openxmlformats.org/drawingml/2006/main" id="4008" idx="2"/>
            <a:endCxn xmlns:a="http://schemas.openxmlformats.org/drawingml/2006/main" id="4009" idx="0"/>
          </p:cNvCxnSpPr>
          <p:nvPr/>
        </p:nvCxnSpPr>
        <p:spPr>
          <a:xfrm xmlns:a="http://schemas.openxmlformats.org/drawingml/2006/main">
            <a:off x="7818120" y="2240280"/>
            <a:ext cx="0" cy="73152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4017" name="Connector 5"/>
          <p:cNvCxnSpPr>
            <a:stCxn xmlns:a="http://schemas.openxmlformats.org/drawingml/2006/main" id="4009" idx="1"/>
            <a:endCxn xmlns:a="http://schemas.openxmlformats.org/drawingml/2006/main" id="4010" idx="3"/>
          </p:cNvCxnSpPr>
          <p:nvPr/>
        </p:nvCxnSpPr>
        <p:spPr>
          <a:xfrm xmlns:a="http://schemas.openxmlformats.org/drawingml/2006/main" flipH="1">
            <a:off x="6522415" y="3337560"/>
            <a:ext cx="427025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4018" name="Connector 6"/>
          <p:cNvCxnSpPr>
            <a:stCxn xmlns:a="http://schemas.openxmlformats.org/drawingml/2006/main" id="4010" idx="1"/>
            <a:endCxn xmlns:a="http://schemas.openxmlformats.org/drawingml/2006/main" id="4011" idx="3"/>
          </p:cNvCxnSpPr>
          <p:nvPr/>
        </p:nvCxnSpPr>
        <p:spPr>
          <a:xfrm xmlns:a="http://schemas.openxmlformats.org/drawingml/2006/main" flipH="1">
            <a:off x="4358945" y="3337560"/>
            <a:ext cx="42611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4019" name="Connector 7"/>
          <p:cNvCxnSpPr>
            <a:stCxn xmlns:a="http://schemas.openxmlformats.org/drawingml/2006/main" id="4011" idx="1"/>
            <a:endCxn xmlns:a="http://schemas.openxmlformats.org/drawingml/2006/main" id="4012" idx="3"/>
          </p:cNvCxnSpPr>
          <p:nvPr/>
        </p:nvCxnSpPr>
        <p:spPr>
          <a:xfrm xmlns:a="http://schemas.openxmlformats.org/drawingml/2006/main" flipH="1">
            <a:off x="2194560" y="3337560"/>
            <a:ext cx="427025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sp>
        <p:nvSpPr>
          <p:cNvPr id="4020" name="TextBox 13"/>
          <p:cNvSpPr txBox="1"/>
          <p:nvPr/>
        </p:nvSpPr>
        <p:spPr>
          <a:xfrm xmlns:a="http://schemas.openxmlformats.org/drawingml/2006/main">
            <a:off x="457200" y="4023360"/>
            <a:ext cx="82296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亮色是 JEV 回答的步驟，其他步驟都由後端程式處理</a:t>
            </a:r>
          </a:p>
        </p:txBody>
      </p:sp>
      <p:sp>
        <p:nvSpPr>
          <p:cNvPr id="4021" name="TextBox 14"/>
          <p:cNvSpPr txBox="1"/>
          <p:nvPr/>
        </p:nvSpPr>
        <p:spPr>
          <a:xfrm xmlns:a="http://schemas.openxmlformats.org/drawingml/2006/main">
            <a:off x="457200" y="4572000"/>
            <a:ext cx="4572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4022" name="TextBox 15"/>
          <p:cNvSpPr txBox="1"/>
          <p:nvPr/>
        </p:nvSpPr>
        <p:spPr>
          <a:xfrm xmlns:a="http://schemas.openxmlformats.org/drawingml/2006/main">
            <a:off x="7772400" y="4572000"/>
            <a:ext cx="9144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04</a:t>
            </a:r>
          </a:p>
        </p:txBody>
      </p:sp>
    </p:spTree>
  </p:cSld>
  <p:transition xmlns:p="http://schemas.openxmlformats.org/presentationml/2006/main" xmlns:a="http://schemas.openxmlformats.org/drawingml/2006/main" xmlns:r="http://schemas.openxmlformats.org/officeDocument/2006/relationships">
    <p:wipe dir="r"/>
  </p:transition>
  <p:timing xmlns:p="http://schemas.openxmlformats.org/presentationml/2006/main" xmlns:a="http://schemas.openxmlformats.org/drawingml/2006/main" xmlns:r="http://schemas.openxmlformats.org/officeDocument/2006/relationships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4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4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dur="400" fill="hold" grpId="15" nodeType="click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Effect transition="out" filter="fade">
                                      <p:cBhvr>
                                        <p:cTn id="86" dur="400" tmFilter="0, 0; .2, .5; .8, .5; 1, 0"/>
                                        <p:tgtEl>
                                          <p:spTgt spid="40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40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dur="400" fill="hold" grpId="16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Effect transition="out" filter="fade">
                                      <p:cBhvr>
                                        <p:cTn id="91" dur="400" tmFilter="0, 0; .2, .5; .8, .5; 1, 0"/>
                                        <p:tgtEl>
                                          <p:spTgt spid="4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4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mph" presetSubtype="0" dur="400" fill="hold" grpId="17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Effect transition="out" filter="fade">
                                      <p:cBhvr>
                                        <p:cTn id="95" dur="400" tmFilter="0, 0; .2, .5; .8, .5; 1, 0"/>
                                        <p:tgtEl>
                                          <p:spTgt spid="40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40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5" grpId="0"/>
      <p:bldP spid="4006" grpId="2"/>
      <p:bldP spid="4007" grpId="4"/>
      <p:bldP spid="4008" grpId="6"/>
      <p:bldP spid="4009" grpId="8"/>
      <p:bldP spid="4010" grpId="10"/>
      <p:bldP spid="4011" grpId="12"/>
      <p:bldP spid="4012" grpId="14"/>
    </p:bldLst>
  </p:timing>
</p:sld>
</file>

<file path=ppt/slides/slide5.xml><?xml version="1.0" encoding="utf-8"?>
<p:sld xmlns:p="http://schemas.openxmlformats.org/presentationml/2006/main" xmlns:a="http://schemas.openxmlformats.org/drawingml/2006/main" xmlns:p159="http://schemas.microsoft.com/office/powerpoint/2015/09/main" xmlns:mc="http://schemas.openxmlformats.org/markup-compatibility/2006" xmlns:p14="http://schemas.microsoft.com/office/powerpoint/2010/main" mc:Ignorable="p159">
  <p:c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5001" name="!!orb-violet"/>
          <p:cNvSpPr/>
          <p:nvPr/>
        </p:nvSpPr>
        <p:spPr>
          <a:xfrm xmlns:a="http://schemas.openxmlformats.org/drawingml/2006/main">
            <a:off x="7498080" y="-10058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77724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02" name="!!orb-pink"/>
          <p:cNvSpPr/>
          <p:nvPr/>
        </p:nvSpPr>
        <p:spPr>
          <a:xfrm xmlns:a="http://schemas.openxmlformats.org/drawingml/2006/main">
            <a:off x="2834640" y="411480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6858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03" name="!!orb-cyan"/>
          <p:cNvSpPr/>
          <p:nvPr/>
        </p:nvSpPr>
        <p:spPr>
          <a:xfrm xmlns:a="http://schemas.openxmlformats.org/drawingml/2006/main">
            <a:off x="-731520" y="-36576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36576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04" name="TextBox 4"/>
          <p:cNvSpPr txBox="1"/>
          <p:nvPr/>
        </p:nvSpPr>
        <p:spPr>
          <a:xfrm xmlns:a="http://schemas.openxmlformats.org/drawingml/2006/main">
            <a:off x="457200" y="365760"/>
            <a:ext cx="8229600" cy="822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第一輪每個欄位問兩題，JEV 回的是分數和選項</a:t>
            </a:r>
          </a:p>
        </p:txBody>
      </p:sp>
      <p:sp>
        <p:nvSpPr>
          <p:cNvPr id="5005" name="TextBox 5"/>
          <p:cNvSpPr/>
          <p:nvPr/>
        </p:nvSpPr>
        <p:spPr>
          <a:xfrm xmlns:a="http://schemas.openxmlformats.org/drawingml/2006/main">
            <a:off x="457200" y="1417320"/>
            <a:ext cx="52120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F0D2E">
              <a:alpha val="55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06" name="TextBox 6"/>
          <p:cNvSpPr txBox="1"/>
          <p:nvPr/>
        </p:nvSpPr>
        <p:spPr>
          <a:xfrm xmlns:a="http://schemas.openxmlformats.org/drawingml/2006/main">
            <a:off x="640080" y="1508760"/>
            <a:ext cx="457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00F2FE"/>
                </a:solidFill>
                <a:latin typeface="Noto Sans TC"/>
                <a:ea typeface="Noto Sans TC"/>
              </a:rPr>
              <a:t>問</a:t>
            </a:r>
          </a:p>
        </p:txBody>
      </p:sp>
      <p:sp>
        <p:nvSpPr>
          <p:cNvPr id="5007" name="TextBox 7"/>
          <p:cNvSpPr txBox="1"/>
          <p:nvPr/>
        </p:nvSpPr>
        <p:spPr>
          <a:xfrm xmlns:a="http://schemas.openxmlformats.org/drawingml/2006/main">
            <a:off x="640080" y="1737360"/>
            <a:ext cx="4846320" cy="1325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"imp_2": {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  "type": "score",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  "criteria": ["不重要，略過", "次要", "重要", "核心指標"] }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"role_2": {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  "type": "choice",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  "criteria": { "dimension": …, "measure": …,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                "time": …, "ignore": … } }</a:t>
            </a:r>
          </a:p>
        </p:txBody>
      </p:sp>
      <p:sp>
        <p:nvSpPr>
          <p:cNvPr id="5008" name="TextBox 8"/>
          <p:cNvSpPr/>
          <p:nvPr/>
        </p:nvSpPr>
        <p:spPr>
          <a:xfrm xmlns:a="http://schemas.openxmlformats.org/drawingml/2006/main">
            <a:off x="457200" y="3291840"/>
            <a:ext cx="521208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F0D2E">
              <a:alpha val="55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09" name="TextBox 9"/>
          <p:cNvSpPr txBox="1"/>
          <p:nvPr/>
        </p:nvSpPr>
        <p:spPr>
          <a:xfrm xmlns:a="http://schemas.openxmlformats.org/drawingml/2006/main">
            <a:off x="640080" y="3383280"/>
            <a:ext cx="457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00F2FE"/>
                </a:solidFill>
                <a:latin typeface="Noto Sans TC"/>
                <a:ea typeface="Noto Sans TC"/>
              </a:rPr>
              <a:t>答</a:t>
            </a:r>
          </a:p>
        </p:txBody>
      </p:sp>
      <p:sp>
        <p:nvSpPr>
          <p:cNvPr id="5010" name="TextBox 10"/>
          <p:cNvSpPr txBox="1"/>
          <p:nvPr/>
        </p:nvSpPr>
        <p:spPr>
          <a:xfrm xmlns:a="http://schemas.openxmlformats.org/drawingml/2006/main">
            <a:off x="640080" y="3611880"/>
            <a:ext cx="484632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"imp_2":  { "type": "score", "score": 3.0 }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"role_2": { "type": "choice", "choice": "measure",</a:t>
            </a:r>
          </a:p>
          <a:p xmlns:a="http://schemas.openxmlformats.org/drawingml/2006/main">
            <a:r>
              <a:rPr lang="zh-TW" sz="1100" b="0">
                <a:solidFill>
                  <a:srgbClr val="FFFFFF"/>
                </a:solidFill>
                <a:latin typeface="Consolas"/>
                <a:ea typeface="Noto Sans TC"/>
              </a:rPr>
              <a:t>            "confidence": 0.97 }</a:t>
            </a:r>
          </a:p>
        </p:txBody>
      </p:sp>
      <p:sp>
        <p:nvSpPr>
          <p:cNvPr id="5011" name="TextBox 11"/>
          <p:cNvSpPr/>
          <p:nvPr/>
        </p:nvSpPr>
        <p:spPr>
          <a:xfrm xmlns:a="http://schemas.openxmlformats.org/drawingml/2006/main">
            <a:off x="5943600" y="1463040"/>
            <a:ext cx="329184" cy="32918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F2F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 b="1">
                <a:solidFill>
                  <a:srgbClr val="00F2FE"/>
                </a:solidFill>
                <a:latin typeface="Noto Sans TC"/>
                <a:ea typeface="Noto Sans TC"/>
              </a:rPr>
              <a:t>1</a:t>
            </a:r>
          </a:p>
        </p:txBody>
      </p:sp>
      <p:sp>
        <p:nvSpPr>
          <p:cNvPr id="5012" name="TextBox 12"/>
          <p:cNvSpPr txBox="1"/>
          <p:nvPr/>
        </p:nvSpPr>
        <p:spPr>
          <a:xfrm xmlns:a="http://schemas.openxmlformats.org/drawingml/2006/main">
            <a:off x="6400800" y="1417320"/>
            <a:ext cx="22860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key 用索引 imp_2，不用欄位名稱，中文和符號不會出錯</a:t>
            </a:r>
          </a:p>
        </p:txBody>
      </p:sp>
      <p:sp>
        <p:nvSpPr>
          <p:cNvPr id="5013" name="TextBox 13"/>
          <p:cNvSpPr/>
          <p:nvPr/>
        </p:nvSpPr>
        <p:spPr>
          <a:xfrm xmlns:a="http://schemas.openxmlformats.org/drawingml/2006/main">
            <a:off x="5943600" y="2423160"/>
            <a:ext cx="329184" cy="32918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F2F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 b="1">
                <a:solidFill>
                  <a:srgbClr val="00F2FE"/>
                </a:solidFill>
                <a:latin typeface="Noto Sans TC"/>
                <a:ea typeface="Noto Sans TC"/>
              </a:rPr>
              <a:t>2</a:t>
            </a:r>
          </a:p>
        </p:txBody>
      </p:sp>
      <p:sp>
        <p:nvSpPr>
          <p:cNvPr id="5014" name="TextBox 14"/>
          <p:cNvSpPr txBox="1"/>
          <p:nvPr/>
        </p:nvSpPr>
        <p:spPr>
          <a:xfrm xmlns:a="http://schemas.openxmlformats.org/drawingml/2006/main">
            <a:off x="6400800" y="2377440"/>
            <a:ext cx="22860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score 從 0 起算，4 個選項回 0 到 3</a:t>
            </a:r>
          </a:p>
        </p:txBody>
      </p:sp>
      <p:sp>
        <p:nvSpPr>
          <p:cNvPr id="5015" name="TextBox 15"/>
          <p:cNvSpPr/>
          <p:nvPr/>
        </p:nvSpPr>
        <p:spPr>
          <a:xfrm xmlns:a="http://schemas.openxmlformats.org/drawingml/2006/main">
            <a:off x="5943600" y="3383280"/>
            <a:ext cx="329184" cy="32918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F2F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050" b="1">
                <a:solidFill>
                  <a:srgbClr val="00F2FE"/>
                </a:solidFill>
                <a:latin typeface="Noto Sans TC"/>
                <a:ea typeface="Noto Sans TC"/>
              </a:rPr>
              <a:t>3</a:t>
            </a:r>
          </a:p>
        </p:txBody>
      </p:sp>
      <p:sp>
        <p:nvSpPr>
          <p:cNvPr id="5016" name="TextBox 16"/>
          <p:cNvSpPr txBox="1"/>
          <p:nvPr/>
        </p:nvSpPr>
        <p:spPr>
          <a:xfrm xmlns:a="http://schemas.openxmlformats.org/drawingml/2006/main">
            <a:off x="6400800" y="3337560"/>
            <a:ext cx="228600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另問一題 chart_count，換算要畫幾張圖</a:t>
            </a:r>
          </a:p>
        </p:txBody>
      </p:sp>
      <p:sp>
        <p:nvSpPr>
          <p:cNvPr id="5017" name="TextBox 17"/>
          <p:cNvSpPr/>
          <p:nvPr/>
        </p:nvSpPr>
        <p:spPr>
          <a:xfrm xmlns:a="http://schemas.openxmlformats.org/drawingml/2006/main">
            <a:off x="2999232" y="304495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00F2FE">
                <a:alpha val="45000"/>
              </a:srgbClr>
            </a:glo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18" name="TextBox 18"/>
          <p:cNvSpPr txBox="1"/>
          <p:nvPr/>
        </p:nvSpPr>
        <p:spPr>
          <a:xfrm xmlns:a="http://schemas.openxmlformats.org/drawingml/2006/main">
            <a:off x="457200" y="4572000"/>
            <a:ext cx="4572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5019" name="TextBox 19"/>
          <p:cNvSpPr txBox="1"/>
          <p:nvPr/>
        </p:nvSpPr>
        <p:spPr>
          <a:xfrm xmlns:a="http://schemas.openxmlformats.org/drawingml/2006/main">
            <a:off x="7772400" y="4572000"/>
            <a:ext cx="9144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05</a:t>
            </a:r>
          </a:p>
        </p:txBody>
      </p:sp>
    </p:spTree>
  </p:cSld>
  <mc:AlternateContent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>
    <mc:Choice Requires="p159">
      <p:transition xmlns:p159="http://schemas.microsoft.com/office/powerpoint/2015/09/main" p14:dur="1200">
        <p159:morph option="byObject"/>
      </p:transition>
    </mc:Choice>
    <mc:Fallback>
      <p:transition>
        <p:fade/>
      </p:transition>
    </mc:Fallback>
  </mc:AlternateContent>
  <p:timing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4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56 E" pathEditMode="relative">
                                      <p:cBhvr>
                                        <p:cTn id="26" dur="800"/>
                                        <p:tgtEl>
                                          <p:spTgt spid="501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400"/>
                                        <p:tgtEl>
                                          <p:spTgt spid="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6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6" dur="400"/>
                                        <p:tgtEl>
                                          <p:spTgt spid="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6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1" dur="400"/>
                                        <p:tgtEl>
                                          <p:spTgt spid="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46" dur="400"/>
                                        <p:tgtEl>
                                          <p:spTgt spid="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5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1" dur="400"/>
                                        <p:tgtEl>
                                          <p:spTgt spid="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5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2" dur="400"/>
                                        <p:tgtEl>
                                          <p:spTgt spid="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5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3" dur="400"/>
                                        <p:tgtEl>
                                          <p:spTgt spid="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5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4" dur="400"/>
                                        <p:tgtEl>
                                          <p:spTgt spid="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5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5" dur="400"/>
                                        <p:tgtEl>
                                          <p:spTgt spid="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5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6" dur="400"/>
                                        <p:tgtEl>
                                          <p:spTgt spid="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5" grpId="0"/>
      <p:bldP spid="5006" grpId="1"/>
      <p:bldP spid="5007" grpId="2"/>
      <p:bldP spid="5017" grpId="3"/>
      <p:bldP spid="5008" grpId="5"/>
      <p:bldP spid="5009" grpId="6"/>
      <p:bldP spid="5010" grpId="7"/>
      <p:bldP spid="5011" grpId="9"/>
      <p:bldP spid="5012" grpId="10"/>
      <p:bldP spid="5013" grpId="11"/>
      <p:bldP spid="5014" grpId="12"/>
      <p:bldP spid="5015" grpId="13"/>
      <p:bldP spid="5016" grpId="14"/>
    </p:bldLst>
  </p:timing>
</p:sld>
</file>

<file path=ppt/slides/slide6.xml><?xml version="1.0" encoding="utf-8"?>
<p:sld xmlns:p="http://schemas.openxmlformats.org/presentationml/2006/main" xmlns:a="http://schemas.openxmlformats.org/drawingml/2006/main" xmlns:p159="http://schemas.microsoft.com/office/powerpoint/2015/09/main" xmlns:mc="http://schemas.openxmlformats.org/markup-compatibility/2006" xmlns:p14="http://schemas.microsoft.com/office/powerpoint/2010/main" mc:Ignorable="p159">
  <p:c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6001" name="!!orb-violet"/>
          <p:cNvSpPr/>
          <p:nvPr/>
        </p:nvSpPr>
        <p:spPr>
          <a:xfrm xmlns:a="http://schemas.openxmlformats.org/drawingml/2006/main">
            <a:off x="-1463040" y="-128016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73152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02" name="!!orb-pink"/>
          <p:cNvSpPr/>
          <p:nvPr/>
        </p:nvSpPr>
        <p:spPr>
          <a:xfrm xmlns:a="http://schemas.openxmlformats.org/drawingml/2006/main">
            <a:off x="7406640" y="3200400"/>
            <a:ext cx="3474720" cy="347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86868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03" name="!!orb-cyan"/>
          <p:cNvSpPr/>
          <p:nvPr/>
        </p:nvSpPr>
        <p:spPr>
          <a:xfrm xmlns:a="http://schemas.openxmlformats.org/drawingml/2006/main">
            <a:off x="4846320" y="475488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32004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04" name="TextBox 4"/>
          <p:cNvSpPr txBox="1"/>
          <p:nvPr/>
        </p:nvSpPr>
        <p:spPr>
          <a:xfrm xmlns:a="http://schemas.openxmlformats.org/drawingml/2006/main">
            <a:off x="457200" y="365760"/>
            <a:ext cx="8229600" cy="822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信心不夠或型別對不上，一律當成 ignore</a:t>
            </a:r>
          </a:p>
        </p:txBody>
      </p:sp>
      <p:sp>
        <p:nvSpPr>
          <p:cNvPr id="6005" name="TextBox 5"/>
          <p:cNvSpPr/>
          <p:nvPr/>
        </p:nvSpPr>
        <p:spPr>
          <a:xfrm xmlns:a="http://schemas.openxmlformats.org/drawingml/2006/main">
            <a:off x="457200" y="1828800"/>
            <a:ext cx="14630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zh-TW" sz="1400">
                <a:solidFill>
                  <a:srgbClr val="FFFFFF"/>
                </a:solidFill>
                <a:latin typeface="Noto Sans TC"/>
                <a:ea typeface="Noto Sans TC"/>
              </a:rPr>
              <a:t>JEV 回答角色</a:t>
            </a:r>
          </a:p>
        </p:txBody>
      </p:sp>
      <p:sp>
        <p:nvSpPr>
          <p:cNvPr id="6006" name="TextBox 6"/>
          <p:cNvSpPr/>
          <p:nvPr/>
        </p:nvSpPr>
        <p:spPr>
          <a:xfrm xmlns:a="http://schemas.openxmlformats.org/drawingml/2006/main">
            <a:off x="2286000" y="1783080"/>
            <a:ext cx="2103120" cy="914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300">
                <a:solidFill>
                  <a:srgbClr val="FFFFFF"/>
                </a:solidFill>
                <a:latin typeface="Noto Sans TC"/>
                <a:ea typeface="Noto Sans TC"/>
              </a:rPr>
              <a:t>confidence 低於 0.5？</a:t>
            </a:r>
          </a:p>
        </p:txBody>
      </p:sp>
      <p:sp>
        <p:nvSpPr>
          <p:cNvPr id="6007" name="TextBox 7"/>
          <p:cNvSpPr/>
          <p:nvPr/>
        </p:nvSpPr>
        <p:spPr>
          <a:xfrm xmlns:a="http://schemas.openxmlformats.org/drawingml/2006/main">
            <a:off x="4754880" y="1783080"/>
            <a:ext cx="2286000" cy="914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zh-TW" sz="1300">
                <a:solidFill>
                  <a:srgbClr val="FFFFFF"/>
                </a:solidFill>
                <a:latin typeface="Noto Sans TC"/>
                <a:ea typeface="Noto Sans TC"/>
              </a:rPr>
              <a:t>measure 不是數字、time 不是日期？</a:t>
            </a:r>
          </a:p>
        </p:txBody>
      </p:sp>
      <p:sp>
        <p:nvSpPr>
          <p:cNvPr id="6008" name="TextBox 8"/>
          <p:cNvSpPr/>
          <p:nvPr/>
        </p:nvSpPr>
        <p:spPr>
          <a:xfrm xmlns:a="http://schemas.openxmlformats.org/drawingml/2006/main">
            <a:off x="7315200" y="1828800"/>
            <a:ext cx="13716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zh-TW" sz="1400">
                <a:solidFill>
                  <a:srgbClr val="FFFFFF"/>
                </a:solidFill>
                <a:latin typeface="Noto Sans TC"/>
                <a:ea typeface="Noto Sans TC"/>
              </a:rPr>
              <a:t>採用這個角色</a:t>
            </a:r>
          </a:p>
        </p:txBody>
      </p:sp>
      <p:sp>
        <p:nvSpPr>
          <p:cNvPr id="6009" name="TextBox 9"/>
          <p:cNvSpPr/>
          <p:nvPr/>
        </p:nvSpPr>
        <p:spPr>
          <a:xfrm xmlns:a="http://schemas.openxmlformats.org/drawingml/2006/main">
            <a:off x="2651760" y="3246120"/>
            <a:ext cx="402336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F2FE">
              <a:alpha val="20000"/>
            </a:srgbClr>
          </a:solidFill>
          <a:ln xmlns:a="http://schemas.openxmlformats.org/drawingml/2006/main" w="15875">
            <a:solidFill>
              <a:srgbClr val="00F2FE"/>
            </a:solidFill>
          </a:ln>
          <a:effectLst xmlns:a="http://schemas.openxmlformats.org/drawingml/2006/main">
            <a:glow rad="101600">
              <a:srgbClr val="00F2FE">
                <a:alpha val="45000"/>
              </a:srgbClr>
            </a:glow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改判 ignore</a:t>
            </a:r>
          </a:p>
        </p:txBody>
      </p:sp>
      <p:cxnSp>
        <p:nvCxnSpPr>
          <p:cNvPr id="6010" name="Connector 1"/>
          <p:cNvCxnSpPr>
            <a:stCxn xmlns:a="http://schemas.openxmlformats.org/drawingml/2006/main" id="6005" idx="3"/>
            <a:endCxn xmlns:a="http://schemas.openxmlformats.org/drawingml/2006/main" id="6006" idx="3"/>
          </p:cNvCxnSpPr>
          <p:nvPr/>
        </p:nvCxnSpPr>
        <p:spPr>
          <a:xfrm xmlns:a="http://schemas.openxmlformats.org/drawingml/2006/main">
            <a:off x="1920240" y="2240280"/>
            <a:ext cx="36576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6011" name="Connector 2"/>
          <p:cNvCxnSpPr>
            <a:stCxn xmlns:a="http://schemas.openxmlformats.org/drawingml/2006/main" id="6006" idx="0"/>
            <a:endCxn xmlns:a="http://schemas.openxmlformats.org/drawingml/2006/main" id="6007" idx="3"/>
          </p:cNvCxnSpPr>
          <p:nvPr/>
        </p:nvCxnSpPr>
        <p:spPr>
          <a:xfrm xmlns:a="http://schemas.openxmlformats.org/drawingml/2006/main">
            <a:off x="4389120" y="2240280"/>
            <a:ext cx="36576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6012" name="Connector 3"/>
          <p:cNvCxnSpPr>
            <a:stCxn xmlns:a="http://schemas.openxmlformats.org/drawingml/2006/main" id="6007" idx="0"/>
            <a:endCxn xmlns:a="http://schemas.openxmlformats.org/drawingml/2006/main" id="6008" idx="1"/>
          </p:cNvCxnSpPr>
          <p:nvPr/>
        </p:nvCxnSpPr>
        <p:spPr>
          <a:xfrm xmlns:a="http://schemas.openxmlformats.org/drawingml/2006/main">
            <a:off x="7040880" y="2240280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6013" name="Connector 4"/>
          <p:cNvCxnSpPr>
            <a:stCxn xmlns:a="http://schemas.openxmlformats.org/drawingml/2006/main" id="6006" idx="2"/>
            <a:endCxn xmlns:a="http://schemas.openxmlformats.org/drawingml/2006/main" id="6009" idx="0"/>
          </p:cNvCxnSpPr>
          <p:nvPr/>
        </p:nvCxnSpPr>
        <p:spPr>
          <a:xfrm xmlns:a="http://schemas.openxmlformats.org/drawingml/2006/main">
            <a:off x="3337560" y="2697480"/>
            <a:ext cx="0" cy="54864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cxnSp>
        <p:nvCxnSpPr>
          <p:cNvPr id="6014" name="Connector 5"/>
          <p:cNvCxnSpPr>
            <a:stCxn xmlns:a="http://schemas.openxmlformats.org/drawingml/2006/main" id="6007" idx="2"/>
            <a:endCxn xmlns:a="http://schemas.openxmlformats.org/drawingml/2006/main" id="6009" idx="0"/>
          </p:cNvCxnSpPr>
          <p:nvPr/>
        </p:nvCxnSpPr>
        <p:spPr>
          <a:xfrm xmlns:a="http://schemas.openxmlformats.org/drawingml/2006/main">
            <a:off x="5897880" y="2697480"/>
            <a:ext cx="0" cy="548640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rgbClr val="B8B4E0"/>
            </a:solidFill>
            <a:tailEnd type="triangle"/>
          </a:ln>
        </p:spPr>
      </p:cxnSp>
      <p:sp>
        <p:nvSpPr>
          <p:cNvPr id="6015" name="TextBox 10"/>
          <p:cNvSpPr txBox="1"/>
          <p:nvPr/>
        </p:nvSpPr>
        <p:spPr>
          <a:xfrm xmlns:a="http://schemas.openxmlformats.org/drawingml/2006/main">
            <a:off x="4434840" y="1938528"/>
            <a:ext cx="27432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否</a:t>
            </a:r>
          </a:p>
        </p:txBody>
      </p:sp>
      <p:sp>
        <p:nvSpPr>
          <p:cNvPr id="6016" name="TextBox 11"/>
          <p:cNvSpPr txBox="1"/>
          <p:nvPr/>
        </p:nvSpPr>
        <p:spPr>
          <a:xfrm xmlns:a="http://schemas.openxmlformats.org/drawingml/2006/main">
            <a:off x="7040880" y="1938528"/>
            <a:ext cx="27432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否</a:t>
            </a:r>
          </a:p>
        </p:txBody>
      </p:sp>
      <p:sp>
        <p:nvSpPr>
          <p:cNvPr id="6017" name="TextBox 12"/>
          <p:cNvSpPr txBox="1"/>
          <p:nvPr/>
        </p:nvSpPr>
        <p:spPr>
          <a:xfrm xmlns:a="http://schemas.openxmlformats.org/drawingml/2006/main">
            <a:off x="3429000" y="2852928"/>
            <a:ext cx="27432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是</a:t>
            </a:r>
          </a:p>
        </p:txBody>
      </p:sp>
      <p:sp>
        <p:nvSpPr>
          <p:cNvPr id="6018" name="TextBox 13"/>
          <p:cNvSpPr txBox="1"/>
          <p:nvPr/>
        </p:nvSpPr>
        <p:spPr>
          <a:xfrm xmlns:a="http://schemas.openxmlformats.org/drawingml/2006/main">
            <a:off x="5989320" y="2852928"/>
            <a:ext cx="27432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是</a:t>
            </a:r>
          </a:p>
        </p:txBody>
      </p:sp>
      <p:sp>
        <p:nvSpPr>
          <p:cNvPr id="6019" name="TextBox 14"/>
          <p:cNvSpPr txBox="1"/>
          <p:nvPr/>
        </p:nvSpPr>
        <p:spPr>
          <a:xfrm xmlns:a="http://schemas.openxmlformats.org/drawingml/2006/main">
            <a:off x="457200" y="4160520"/>
            <a:ext cx="82296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1">
                <a:solidFill>
                  <a:srgbClr val="00F2FE"/>
                </a:solidFill>
                <a:latin typeface="Noto Sans TC"/>
                <a:ea typeface="Noto Sans TC"/>
              </a:rPr>
              <a:t>JEV 可能誤判，但文字欄位不會被拿去加總</a:t>
            </a:r>
          </a:p>
        </p:txBody>
      </p:sp>
      <p:sp>
        <p:nvSpPr>
          <p:cNvPr id="6020" name="TextBox 15"/>
          <p:cNvSpPr txBox="1"/>
          <p:nvPr/>
        </p:nvSpPr>
        <p:spPr>
          <a:xfrm xmlns:a="http://schemas.openxmlformats.org/drawingml/2006/main">
            <a:off x="457200" y="4572000"/>
            <a:ext cx="4572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6021" name="TextBox 16"/>
          <p:cNvSpPr txBox="1"/>
          <p:nvPr/>
        </p:nvSpPr>
        <p:spPr>
          <a:xfrm xmlns:a="http://schemas.openxmlformats.org/drawingml/2006/main">
            <a:off x="7772400" y="4572000"/>
            <a:ext cx="9144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06</a:t>
            </a:r>
          </a:p>
        </p:txBody>
      </p:sp>
    </p:spTree>
  </p:cSld>
  <mc:AlternateContent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>
    <mc:Choice Requires="p159">
      <p:transition xmlns:p159="http://schemas.microsoft.com/office/powerpoint/2015/09/main" p14:dur="1200">
        <p159:morph option="byObject"/>
      </p:transition>
    </mc:Choice>
    <mc:Fallback>
      <p:transition>
        <p:fade/>
      </p:transition>
    </mc:Fallback>
  </mc:AlternateContent>
  <p:timing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4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dur="4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dur="4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00"/>
                                        <p:tgtEl>
                                          <p:spTgt spid="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dur="40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5" grpId="0"/>
      <p:bldP spid="6006" grpId="2"/>
      <p:bldP spid="6017" grpId="4"/>
      <p:bldP spid="6009" grpId="5"/>
      <p:bldP spid="6015" grpId="7"/>
      <p:bldP spid="6007" grpId="8"/>
      <p:bldP spid="6018" grpId="10"/>
      <p:bldP spid="6016" grpId="12"/>
      <p:bldP spid="6008" grpId="13"/>
      <p:bldP spid="6019" grpId="14"/>
    </p:bldLst>
  </p:timing>
</p:sld>
</file>

<file path=ppt/slides/slide7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7001" name="!!orb-violet"/>
          <p:cNvSpPr/>
          <p:nvPr/>
        </p:nvSpPr>
        <p:spPr>
          <a:xfrm xmlns:a="http://schemas.openxmlformats.org/drawingml/2006/main">
            <a:off x="7589520" y="109728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82296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02" name="!!orb-pink"/>
          <p:cNvSpPr/>
          <p:nvPr/>
        </p:nvSpPr>
        <p:spPr>
          <a:xfrm xmlns:a="http://schemas.openxmlformats.org/drawingml/2006/main">
            <a:off x="-91440" y="402336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73152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03" name="!!orb-cyan"/>
          <p:cNvSpPr/>
          <p:nvPr/>
        </p:nvSpPr>
        <p:spPr>
          <a:xfrm xmlns:a="http://schemas.openxmlformats.org/drawingml/2006/main">
            <a:off x="3657600" y="-100584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36576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04" name="TextBox 4"/>
          <p:cNvSpPr txBox="1"/>
          <p:nvPr/>
        </p:nvSpPr>
        <p:spPr>
          <a:xfrm xmlns:a="http://schemas.openxmlformats.org/drawingml/2006/main">
            <a:off x="457200" y="365760"/>
            <a:ext cx="8229600" cy="822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合法組合寫在表裡，表外的組合不會產生</a:t>
            </a:r>
          </a:p>
        </p:txBody>
      </p:sp>
      <p:graphicFrame>
        <p:nvGraphicFramePr>
          <p:cNvPr id="7005" name="Table 1"/>
          <p:cNvGraphicFramePr/>
          <p:nvPr/>
        </p:nvGraphicFramePr>
        <p:xfrm>
          <a:off xmlns:a="http://schemas.openxmlformats.org/drawingml/2006/main" x="457200" y="1417320"/>
          <a:ext xmlns:a="http://schemas.openxmlformats.org/drawingml/2006/main" cx="8229600" cy="28346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/>
                <a:gridCol w="4572000"/>
              </a:tblGrid>
              <a:tr h="47244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F1C5C"/>
                          </a:solidFill>
                          <a:latin typeface="Noto Sans TC"/>
                          <a:ea typeface="Noto Sans TC"/>
                        </a:rPr>
                        <a:t>角色組合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F1C5C"/>
                          </a:solidFill>
                          <a:latin typeface="Noto Sans TC"/>
                          <a:ea typeface="Noto Sans TC"/>
                        </a:rPr>
                        <a:t>能畫的圖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00F2F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time × 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折線圖、長條圖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dimension × 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長條圖、圓餅圖（相異值 ≤ 8 才有圓餅圖）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measure × 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散佈圖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dimension × 3～8 個 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雷達圖（相異值 ≤ 5）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time 或 dimension × dimension × 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</a:rPr>
                        <a:t>堆疊長條圖、熱力圖（相異值 ≤ 10 才有堆疊長條圖）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25098"/>
                        </a:srgbClr>
                      </a:solidFill>
                      <a:prstDash val="soli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006" name="TextBox 5"/>
          <p:cNvSpPr txBox="1"/>
          <p:nvPr/>
        </p:nvSpPr>
        <p:spPr>
          <a:xfrm xmlns:a="http://schemas.openxmlformats.org/drawingml/2006/main">
            <a:off x="457200" y="4572000"/>
            <a:ext cx="4572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7007" name="TextBox 6"/>
          <p:cNvSpPr txBox="1"/>
          <p:nvPr/>
        </p:nvSpPr>
        <p:spPr>
          <a:xfrm xmlns:a="http://schemas.openxmlformats.org/drawingml/2006/main">
            <a:off x="7772400" y="4572000"/>
            <a:ext cx="9144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07</a:t>
            </a:r>
          </a:p>
        </p:txBody>
      </p:sp>
    </p:spTree>
  </p:cSld>
  <p:transition xmlns:p="http://schemas.openxmlformats.org/presentationml/2006/main">
    <p:split orient="vert" dir="out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" dur="400"/>
                                        <p:tgtEl>
                                          <p:spTgt spid="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p159="http://schemas.microsoft.com/office/powerpoint/2015/09/main" xmlns:mc="http://schemas.openxmlformats.org/markup-compatibility/2006" xmlns:p14="http://schemas.microsoft.com/office/powerpoint/2010/main" mc:Ignorable="p159">
  <p:c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8001" name="!!orb-violet"/>
          <p:cNvSpPr/>
          <p:nvPr/>
        </p:nvSpPr>
        <p:spPr>
          <a:xfrm xmlns:a="http://schemas.openxmlformats.org/drawingml/2006/main">
            <a:off x="1463040" y="3840480"/>
            <a:ext cx="3474720" cy="347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86868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02" name="!!orb-pink"/>
          <p:cNvSpPr/>
          <p:nvPr/>
        </p:nvSpPr>
        <p:spPr>
          <a:xfrm xmlns:a="http://schemas.openxmlformats.org/drawingml/2006/main">
            <a:off x="7589520" y="-14630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73152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03" name="!!orb-cyan"/>
          <p:cNvSpPr/>
          <p:nvPr/>
        </p:nvSpPr>
        <p:spPr>
          <a:xfrm xmlns:a="http://schemas.openxmlformats.org/drawingml/2006/main">
            <a:off x="-731520" y="155448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41148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04" name="TextBox 4"/>
          <p:cNvSpPr txBox="1"/>
          <p:nvPr/>
        </p:nvSpPr>
        <p:spPr>
          <a:xfrm xmlns:a="http://schemas.openxmlformats.org/drawingml/2006/main">
            <a:off x="457200" y="365760"/>
            <a:ext cx="8229600" cy="822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組合分數取平均，兩個好欄位才贏得過三個普通欄位</a:t>
            </a:r>
          </a:p>
        </p:txBody>
      </p:sp>
      <p:graphicFrame>
        <p:nvGraphicFramePr>
          <p:cNvPr id="8005" name="none"/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530352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aad35a9e344d82"/>
          </a:graphicData>
        </a:graphic>
      </p:graphicFrame>
      <p:sp>
        <p:nvSpPr>
          <p:cNvPr id="8006" name="TextBox 5"/>
          <p:cNvSpPr txBox="1"/>
          <p:nvPr/>
        </p:nvSpPr>
        <p:spPr>
          <a:xfrm xmlns:a="http://schemas.openxmlformats.org/drawingml/2006/main">
            <a:off x="4389120" y="1371600"/>
            <a:ext cx="13716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示意數字</a:t>
            </a:r>
          </a:p>
        </p:txBody>
      </p:sp>
      <p:sp>
        <p:nvSpPr>
          <p:cNvPr id="8007" name="TextBox 6"/>
          <p:cNvSpPr/>
          <p:nvPr/>
        </p:nvSpPr>
        <p:spPr>
          <a:xfrm xmlns:a="http://schemas.openxmlformats.org/drawingml/2006/main">
            <a:off x="6035040" y="1417320"/>
            <a:ext cx="2651760" cy="301752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08" name="TextBox 7"/>
          <p:cNvSpPr txBox="1"/>
          <p:nvPr/>
        </p:nvSpPr>
        <p:spPr>
          <a:xfrm xmlns:a="http://schemas.openxmlformats.org/drawingml/2006/main">
            <a:off x="6217920" y="1673352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00F2FE"/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8009" name="TextBox 8"/>
          <p:cNvSpPr txBox="1"/>
          <p:nvPr/>
        </p:nvSpPr>
        <p:spPr>
          <a:xfrm xmlns:a="http://schemas.openxmlformats.org/drawingml/2006/main">
            <a:off x="6537960" y="1600200"/>
            <a:ext cx="201168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用加總的話，三欄組合多一個欄位就多一分，幾乎永遠排前面</a:t>
            </a:r>
          </a:p>
        </p:txBody>
      </p:sp>
      <p:sp>
        <p:nvSpPr>
          <p:cNvPr id="8010" name="TextBox 9"/>
          <p:cNvSpPr txBox="1"/>
          <p:nvPr/>
        </p:nvSpPr>
        <p:spPr>
          <a:xfrm xmlns:a="http://schemas.openxmlformats.org/drawingml/2006/main">
            <a:off x="6217920" y="2587752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00F2FE"/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8011" name="TextBox 10"/>
          <p:cNvSpPr txBox="1"/>
          <p:nvPr/>
        </p:nvSpPr>
        <p:spPr>
          <a:xfrm xmlns:a="http://schemas.openxmlformats.org/drawingml/2006/main">
            <a:off x="6537960" y="2514600"/>
            <a:ext cx="201168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用平均，真正重要的兩欄組合還有機會贏</a:t>
            </a:r>
          </a:p>
        </p:txBody>
      </p:sp>
      <p:sp>
        <p:nvSpPr>
          <p:cNvPr id="8012" name="TextBox 11"/>
          <p:cNvSpPr txBox="1"/>
          <p:nvPr/>
        </p:nvSpPr>
        <p:spPr>
          <a:xfrm xmlns:a="http://schemas.openxmlformats.org/drawingml/2006/main">
            <a:off x="6217920" y="3502152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00F2FE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8013" name="TextBox 12"/>
          <p:cNvSpPr txBox="1"/>
          <p:nvPr/>
        </p:nvSpPr>
        <p:spPr>
          <a:xfrm xmlns:a="http://schemas.openxmlformats.org/drawingml/2006/main">
            <a:off x="6537960" y="3429000"/>
            <a:ext cx="201168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排序後取分數最高的 2K 組進第二輪</a:t>
            </a:r>
          </a:p>
        </p:txBody>
      </p:sp>
      <p:sp>
        <p:nvSpPr>
          <p:cNvPr id="8014" name="TextBox 13"/>
          <p:cNvSpPr txBox="1"/>
          <p:nvPr/>
        </p:nvSpPr>
        <p:spPr>
          <a:xfrm xmlns:a="http://schemas.openxmlformats.org/drawingml/2006/main">
            <a:off x="457200" y="4572000"/>
            <a:ext cx="4572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8015" name="TextBox 14"/>
          <p:cNvSpPr txBox="1"/>
          <p:nvPr/>
        </p:nvSpPr>
        <p:spPr>
          <a:xfrm xmlns:a="http://schemas.openxmlformats.org/drawingml/2006/main">
            <a:off x="7772400" y="4572000"/>
            <a:ext cx="9144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08</a:t>
            </a:r>
          </a:p>
        </p:txBody>
      </p:sp>
    </p:spTree>
  </p:cSld>
  <mc:AlternateContent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  <mc:Choice Requires="p159">
      <p:transition xmlns:p159="http://schemas.microsoft.com/office/powerpoint/2015/09/main" p14:dur="1200">
        <p159:morph option="byObject"/>
      </p:transition>
    </mc:Choice>
    <mc:Fallback>
      <p:transition>
        <p:fade/>
      </p:transition>
    </mc:Fallback>
  </mc:AlternateContent>
  <p:timing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">
                                            <p:graphicEl>
                                              <a:chart xmlns:a="http://schemas.openxmlformats.org/drawingml/2006/main"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" dur="400"/>
                                        <p:tgtEl>
                                          <p:spTgt spid="8005">
                                            <p:graphicEl>
                                              <a:chart xmlns:a="http://schemas.openxmlformats.org/drawingml/2006/main"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">
                                            <p:graphicEl>
                                              <a:chart xmlns:a="http://schemas.openxmlformats.org/drawingml/2006/main"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400"/>
                                        <p:tgtEl>
                                          <p:spTgt spid="8005">
                                            <p:graphicEl>
                                              <a:chart xmlns:a="http://schemas.openxmlformats.org/drawingml/2006/main"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005" grpId="0">
        <p:bldSub>
          <a:bldChart xmlns:a="http://schemas.openxmlformats.org/drawingml/2006/main" bld="category"/>
        </p:bldSub>
      </p:bldGraphic>
      <p:bldP spid="8009" grpId="1"/>
      <p:bldP spid="8008" grpId="2"/>
      <p:bldP spid="8011" grpId="3"/>
      <p:bldP spid="8010" grpId="4"/>
      <p:bldP spid="8013" grpId="5"/>
      <p:bldP spid="8012" grpId="6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xmlns:p="http://schemas.openxmlformats.org/presentationml/2006/main"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9001" name="!!orb-violet"/>
          <p:cNvSpPr/>
          <p:nvPr/>
        </p:nvSpPr>
        <p:spPr>
          <a:xfrm xmlns:a="http://schemas.openxmlformats.org/drawingml/2006/main">
            <a:off x="2651760" y="-246888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960119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02" name="!!orb-pink"/>
          <p:cNvSpPr/>
          <p:nvPr/>
        </p:nvSpPr>
        <p:spPr>
          <a:xfrm xmlns:a="http://schemas.openxmlformats.org/drawingml/2006/main">
            <a:off x="-1554480" y="356616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77724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03" name="!!orb-cyan"/>
          <p:cNvSpPr/>
          <p:nvPr/>
        </p:nvSpPr>
        <p:spPr>
          <a:xfrm xmlns:a="http://schemas.openxmlformats.org/drawingml/2006/main">
            <a:off x="8229600" y="420624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41148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04" name="TextBox 4"/>
          <p:cNvSpPr txBox="1"/>
          <p:nvPr/>
        </p:nvSpPr>
        <p:spPr>
          <a:xfrm xmlns:a="http://schemas.openxmlformats.org/drawingml/2006/main">
            <a:off x="457200" y="365760"/>
            <a:ext cx="8229600" cy="822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兩輪問答把 1225 組可能壓到最多 12 題</a:t>
            </a:r>
          </a:p>
        </p:txBody>
      </p:sp>
      <p:sp>
        <p:nvSpPr>
          <p:cNvPr id="9005" name="TextBox 5"/>
          <p:cNvSpPr/>
          <p:nvPr/>
        </p:nvSpPr>
        <p:spPr>
          <a:xfrm xmlns:a="http://schemas.openxmlformats.org/drawingml/2006/main">
            <a:off x="457200" y="1463040"/>
            <a:ext cx="237744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06" name="TextBox 6"/>
          <p:cNvSpPr txBox="1"/>
          <p:nvPr/>
        </p:nvSpPr>
        <p:spPr>
          <a:xfrm xmlns:a="http://schemas.openxmlformats.org/drawingml/2006/main">
            <a:off x="457200" y="1691640"/>
            <a:ext cx="2377440" cy="109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zh-TW" sz="5400" b="1">
                <a:solidFill>
                  <a:srgbClr val="FFFFFF"/>
                </a:solidFill>
                <a:latin typeface="Noto Sans TC"/>
                <a:ea typeface="Noto Sans TC"/>
              </a:rPr>
              <a:t>1225</a:t>
            </a:r>
          </a:p>
        </p:txBody>
      </p:sp>
      <p:sp>
        <p:nvSpPr>
          <p:cNvPr id="9007" name="TextBox 7"/>
          <p:cNvSpPr txBox="1"/>
          <p:nvPr/>
        </p:nvSpPr>
        <p:spPr>
          <a:xfrm xmlns:a="http://schemas.openxmlformats.org/drawingml/2006/main">
            <a:off x="640080" y="2743200"/>
            <a:ext cx="201168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50 個欄位的兩兩組合</a:t>
            </a:r>
          </a:p>
        </p:txBody>
      </p:sp>
      <p:sp>
        <p:nvSpPr>
          <p:cNvPr id="9008" name="TextBox 8"/>
          <p:cNvSpPr/>
          <p:nvPr/>
        </p:nvSpPr>
        <p:spPr>
          <a:xfrm xmlns:a="http://schemas.openxmlformats.org/drawingml/2006/main">
            <a:off x="3383280" y="1463040"/>
            <a:ext cx="237744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09" name="TextBox 9"/>
          <p:cNvSpPr txBox="1"/>
          <p:nvPr/>
        </p:nvSpPr>
        <p:spPr>
          <a:xfrm xmlns:a="http://schemas.openxmlformats.org/drawingml/2006/main">
            <a:off x="3383280" y="1691640"/>
            <a:ext cx="2377440" cy="109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zh-TW" sz="5400" b="1">
                <a:solidFill>
                  <a:srgbClr val="FFFFFF"/>
                </a:solidFill>
                <a:latin typeface="Noto Sans TC"/>
                <a:ea typeface="Noto Sans TC"/>
              </a:rPr>
              <a:t>8</a:t>
            </a:r>
          </a:p>
        </p:txBody>
      </p:sp>
      <p:sp>
        <p:nvSpPr>
          <p:cNvPr id="9010" name="TextBox 10"/>
          <p:cNvSpPr txBox="1"/>
          <p:nvPr/>
        </p:nvSpPr>
        <p:spPr>
          <a:xfrm xmlns:a="http://schemas.openxmlformats.org/drawingml/2006/main">
            <a:off x="3566160" y="2743200"/>
            <a:ext cx="201168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第一輪篩完剩下的候選欄位</a:t>
            </a:r>
          </a:p>
        </p:txBody>
      </p:sp>
      <p:sp>
        <p:nvSpPr>
          <p:cNvPr id="9011" name="TextBox 11"/>
          <p:cNvSpPr/>
          <p:nvPr/>
        </p:nvSpPr>
        <p:spPr>
          <a:xfrm xmlns:a="http://schemas.openxmlformats.org/drawingml/2006/main">
            <a:off x="6309360" y="1463040"/>
            <a:ext cx="237744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0F2FE">
              <a:alpha val="20000"/>
            </a:srgbClr>
          </a:solidFill>
          <a:ln xmlns:a="http://schemas.openxmlformats.org/drawingml/2006/main" w="15875">
            <a:solidFill>
              <a:srgbClr val="00F2FE"/>
            </a:solidFill>
          </a:ln>
          <a:effectLst xmlns:a="http://schemas.openxmlformats.org/drawingml/2006/main">
            <a:glow rad="101600">
              <a:srgbClr val="00F2FE">
                <a:alpha val="45000"/>
              </a:srgbClr>
            </a:glow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12" name="TextBox 12"/>
          <p:cNvSpPr txBox="1"/>
          <p:nvPr/>
        </p:nvSpPr>
        <p:spPr>
          <a:xfrm xmlns:a="http://schemas.openxmlformats.org/drawingml/2006/main">
            <a:off x="6309360" y="1691640"/>
            <a:ext cx="2377440" cy="1098000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01600">
              <a:srgbClr val="00F2FE">
                <a:alpha val="45000"/>
              </a:srgbClr>
            </a:glow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zh-TW" sz="5400" b="1">
                <a:solidFill>
                  <a:srgbClr val="00F2FE"/>
                </a:solidFill>
                <a:latin typeface="Noto Sans TC"/>
                <a:ea typeface="Noto Sans TC"/>
              </a:rPr>
              <a:t>12</a:t>
            </a:r>
          </a:p>
        </p:txBody>
      </p:sp>
      <p:sp>
        <p:nvSpPr>
          <p:cNvPr id="9013" name="TextBox 13"/>
          <p:cNvSpPr txBox="1"/>
          <p:nvPr/>
        </p:nvSpPr>
        <p:spPr>
          <a:xfrm xmlns:a="http://schemas.openxmlformats.org/drawingml/2006/main">
            <a:off x="6492240" y="2743200"/>
            <a:ext cx="201168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第二輪最多問的題數（2K，K ≤ 6）</a:t>
            </a:r>
          </a:p>
        </p:txBody>
      </p:sp>
      <p:sp>
        <p:nvSpPr>
          <p:cNvPr id="9014" name="TextBox 14"/>
          <p:cNvSpPr/>
          <p:nvPr/>
        </p:nvSpPr>
        <p:spPr>
          <a:xfrm xmlns:a="http://schemas.openxmlformats.org/drawingml/2006/main">
            <a:off x="2903220" y="2423160"/>
            <a:ext cx="411480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15" name="TextBox 15"/>
          <p:cNvSpPr/>
          <p:nvPr/>
        </p:nvSpPr>
        <p:spPr>
          <a:xfrm xmlns:a="http://schemas.openxmlformats.org/drawingml/2006/main">
            <a:off x="5829300" y="2423160"/>
            <a:ext cx="411480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16" name="TextBox 16"/>
          <p:cNvSpPr txBox="1"/>
          <p:nvPr/>
        </p:nvSpPr>
        <p:spPr>
          <a:xfrm xmlns:a="http://schemas.openxmlformats.org/drawingml/2006/main">
            <a:off x="457200" y="4023360"/>
            <a:ext cx="8229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400" b="1">
                <a:solidFill>
                  <a:srgbClr val="FFFFFF"/>
                </a:solidFill>
                <a:latin typeface="Noto Sans TC"/>
                <a:ea typeface="Noto Sans TC"/>
              </a:rPr>
              <a:t>不管原始資料有幾欄，題數上限都一樣</a:t>
            </a:r>
          </a:p>
        </p:txBody>
      </p:sp>
      <p:sp>
        <p:nvSpPr>
          <p:cNvPr id="9017" name="TextBox 17"/>
          <p:cNvSpPr txBox="1"/>
          <p:nvPr/>
        </p:nvSpPr>
        <p:spPr>
          <a:xfrm xmlns:a="http://schemas.openxmlformats.org/drawingml/2006/main">
            <a:off x="457200" y="4572000"/>
            <a:ext cx="4572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9018" name="TextBox 18"/>
          <p:cNvSpPr txBox="1"/>
          <p:nvPr/>
        </p:nvSpPr>
        <p:spPr>
          <a:xfrm xmlns:a="http://schemas.openxmlformats.org/drawingml/2006/main">
            <a:off x="7772400" y="4572000"/>
            <a:ext cx="9144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09</a:t>
            </a:r>
          </a:p>
        </p:txBody>
      </p:sp>
    </p:spTree>
  </p:cSld>
  <p:transition xmlns:p="http://schemas.openxmlformats.org/presentationml/2006/main">
    <p:zoom dir="in"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5" dur="400" fill="hold"/>
                                        <p:tgtEl>
                                          <p:spTgt spid="900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1" dur="400" fill="hold"/>
                                        <p:tgtEl>
                                          <p:spTgt spid="900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6" dur="400" fill="hold"/>
                                        <p:tgtEl>
                                          <p:spTgt spid="900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27" dur="400" fill="hold"/>
                                        <p:tgtEl>
                                          <p:spTgt spid="900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33" dur="400" fill="hold"/>
                                        <p:tgtEl>
                                          <p:spTgt spid="900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38" dur="400" fill="hold"/>
                                        <p:tgtEl>
                                          <p:spTgt spid="901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49" dur="400" fill="hold"/>
                                        <p:tgtEl>
                                          <p:spTgt spid="901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55" dur="400" fill="hold"/>
                                        <p:tgtEl>
                                          <p:spTgt spid="901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60" dur="400" fill="hold"/>
                                        <p:tgtEl>
                                          <p:spTgt spid="90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mph" presetSubtype="0" dur="400" autoRev="1" fill="hold" grpId="11" nodeType="click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animScale>
                                      <p:cBhvr>
                                        <p:cTn id="63" dur="400" fill="hold"/>
                                        <p:tgtEl>
                                          <p:spTgt spid="9012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5" grpId="0"/>
      <p:bldP spid="9006" grpId="1"/>
      <p:bldP spid="9007" grpId="2"/>
      <p:bldP spid="9014" grpId="3"/>
      <p:bldP spid="9008" grpId="4"/>
      <p:bldP spid="9009" grpId="5"/>
      <p:bldP spid="9010" grpId="6"/>
      <p:bldP spid="9015" grpId="7"/>
      <p:bldP spid="9011" grpId="8"/>
      <p:bldP spid="9012" grpId="9"/>
      <p:bldP spid="9013" grpId="10"/>
    </p:bld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asvg="http://schemas.microsoft.com/office/drawing/2016/SVG/main" xmlns:p159="http://schemas.microsoft.com/office/powerpoint/2015/09/main" xmlns:mc="http://schemas.openxmlformats.org/markup-compatibility/2006" xmlns:p14="http://schemas.microsoft.com/office/powerpoint/2010/main" mc:Ignorable="p159">
  <p:cSld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 xmlns:asvg="http://schemas.microsoft.com/office/drawing/2016/SVG/main">
    <p:bg>
      <p:bgPr>
        <a:gradFill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1" name="!!orb-violet"/>
          <p:cNvSpPr/>
          <p:nvPr/>
        </p:nvSpPr>
        <p:spPr>
          <a:xfrm>
            <a:off x="-1828800" y="1645920"/>
            <a:ext cx="3108960" cy="310896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777240"/>
          </a:effectLst>
        </p:spPr>
        <p:txBody>
          <a:bodyPr/>
          <a:lstStyle/>
          <a:p/>
        </p:txBody>
      </p:sp>
      <p:sp>
        <p:nvSpPr>
          <p:cNvPr id="10002" name="!!orb-pink"/>
          <p:cNvSpPr/>
          <p:nvPr/>
        </p:nvSpPr>
        <p:spPr>
          <a:xfrm>
            <a:off x="7772400" y="91440"/>
            <a:ext cx="3108960" cy="310896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77240"/>
          </a:effectLst>
        </p:spPr>
        <p:txBody>
          <a:bodyPr/>
          <a:lstStyle/>
          <a:p/>
        </p:txBody>
      </p:sp>
      <p:sp>
        <p:nvSpPr>
          <p:cNvPr id="10003" name="!!orb-cyan"/>
          <p:cNvSpPr/>
          <p:nvPr/>
        </p:nvSpPr>
        <p:spPr>
          <a:xfrm>
            <a:off x="5760720" y="4846320"/>
            <a:ext cx="1280160" cy="128016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20040"/>
          </a:effectLst>
        </p:spPr>
        <p:txBody>
          <a:bodyPr/>
          <a:lstStyle/>
          <a:p/>
        </p:txBody>
      </p:sp>
      <p:sp>
        <p:nvSpPr>
          <p:cNvPr id="10004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effectLst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送給 JEV 的只有欄位資訊和摘要，資料列一筆都不送</a:t>
            </a:r>
          </a:p>
        </p:txBody>
      </p:sp>
      <p:sp>
        <p:nvSpPr>
          <p:cNvPr id="10005" name="TextBox 5"/>
          <p:cNvSpPr/>
          <p:nvPr/>
        </p:nvSpPr>
        <p:spPr>
          <a:xfrm>
            <a:off x="457200" y="1417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pic>
        <p:nvPicPr>
          <p:cNvPr id="10006" name="Picture 1" descr="欄位資訊"/>
          <p:cNvPicPr>
            <a:picLocks noChangeAspect="1"/>
          </p:cNvPicPr>
          <p:nvPr/>
        </p:nvPicPr>
        <p:blipFill>
          <a:blip r:embed="R2b115628aef949bc">
            <a:extLst>
              <a:ext uri="{96DAC541-7B7A-43D3-8B79-37D633B846F1}">
                <asvg:svgBlip xmlns:asvg="http://schemas.microsoft.com/office/drawing/2016/SVG/main" r:embed="R671e1fe1ea4545fc"/>
              </a:ext>
            </a:extLst>
          </a:blip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10007" name="TextBox 6"/>
          <p:cNvSpPr txBox="1"/>
          <p:nvPr/>
        </p:nvSpPr>
        <p:spPr>
          <a:xfrm>
            <a:off x="1234440" y="1664208"/>
            <a:ext cx="16459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欄位資訊</a:t>
            </a:r>
          </a:p>
        </p:txBody>
      </p:sp>
      <p:sp>
        <p:nvSpPr>
          <p:cNvPr id="10008" name="TextBox 7"/>
          <p:cNvSpPr txBox="1"/>
          <p:nvPr/>
        </p:nvSpPr>
        <p:spPr>
          <a:xfrm>
            <a:off x="685800" y="2130552"/>
            <a:ext cx="2148840" cy="612000"/>
          </a:xfrm>
          <a:prstGeom prst="rect">
            <a:avLst/>
          </a:prstGeom>
        </p:spPr>
        <p:txBody>
          <a:bodyPr/>
          <a:lstStyle/>
          <a:p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名稱、型別、相異值數量、5 筆樣本</a:t>
            </a:r>
          </a:p>
        </p:txBody>
      </p:sp>
      <p:sp>
        <p:nvSpPr>
          <p:cNvPr id="10009" name="TextBox 8"/>
          <p:cNvSpPr/>
          <p:nvPr/>
        </p:nvSpPr>
        <p:spPr>
          <a:xfrm>
            <a:off x="3291840" y="1417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pic>
        <p:nvPicPr>
          <p:cNvPr id="10010" name="Picture 2" descr="組合描述"/>
          <p:cNvPicPr>
            <a:picLocks noChangeAspect="1"/>
          </p:cNvPicPr>
          <p:nvPr/>
        </p:nvPicPr>
        <p:blipFill>
          <a:blip r:embed="Ra6454c36cad24316">
            <a:extLst>
              <a:ext uri="{96DAC541-7B7A-43D3-8B79-37D633B846F1}">
                <asvg:svgBlip xmlns:asvg="http://schemas.microsoft.com/office/drawing/2016/SVG/main" r:embed="R2da2f7d41e3e4e80"/>
              </a:ext>
            </a:extLst>
          </a:blip>
          <a:stretch>
            <a:fillRect/>
          </a:stretch>
        </p:blipFill>
        <p:spPr>
          <a:xfrm>
            <a:off x="3520440" y="1645920"/>
            <a:ext cx="411480" cy="411480"/>
          </a:xfrm>
          <a:prstGeom prst="rect">
            <a:avLst/>
          </a:prstGeom>
        </p:spPr>
      </p:pic>
      <p:sp>
        <p:nvSpPr>
          <p:cNvPr id="10011" name="TextBox 9"/>
          <p:cNvSpPr txBox="1"/>
          <p:nvPr/>
        </p:nvSpPr>
        <p:spPr>
          <a:xfrm>
            <a:off x="4069080" y="1664208"/>
            <a:ext cx="16459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組合描述</a:t>
            </a:r>
          </a:p>
        </p:txBody>
      </p:sp>
      <p:sp>
        <p:nvSpPr>
          <p:cNvPr id="10012" name="TextBox 10"/>
          <p:cNvSpPr txBox="1"/>
          <p:nvPr/>
        </p:nvSpPr>
        <p:spPr>
          <a:xfrm>
            <a:off x="3520440" y="2130552"/>
            <a:ext cx="2148840" cy="612000"/>
          </a:xfrm>
          <a:prstGeom prst="rect">
            <a:avLst/>
          </a:prstGeom>
        </p:spPr>
        <p:txBody>
          <a:bodyPr/>
          <a:lstStyle/>
          <a:p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欄位名稱和角色，不含任何值</a:t>
            </a:r>
          </a:p>
        </p:txBody>
      </p:sp>
      <p:sp>
        <p:nvSpPr>
          <p:cNvPr id="10013" name="TextBox 11"/>
          <p:cNvSpPr/>
          <p:nvPr/>
        </p:nvSpPr>
        <p:spPr>
          <a:xfrm>
            <a:off x="6126480" y="1417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pic>
        <p:nvPicPr>
          <p:cNvPr id="10014" name="Picture 3" descr="異常摘要"/>
          <p:cNvPicPr>
            <a:picLocks noChangeAspect="1"/>
          </p:cNvPicPr>
          <p:nvPr/>
        </p:nvPicPr>
        <p:blipFill>
          <a:blip r:embed="Rfb6fc64d91694819">
            <a:extLst>
              <a:ext uri="{96DAC541-7B7A-43D3-8B79-37D633B846F1}">
                <asvg:svgBlip xmlns:asvg="http://schemas.microsoft.com/office/drawing/2016/SVG/main" r:embed="R157174b1c6ee4203"/>
              </a:ext>
            </a:extLst>
          </a:blip>
          <a:stretch>
            <a:fillRect/>
          </a:stretch>
        </p:blipFill>
        <p:spPr>
          <a:xfrm>
            <a:off x="6355080" y="1645920"/>
            <a:ext cx="411480" cy="411480"/>
          </a:xfrm>
          <a:prstGeom prst="rect">
            <a:avLst/>
          </a:prstGeom>
        </p:spPr>
      </p:pic>
      <p:sp>
        <p:nvSpPr>
          <p:cNvPr id="10015" name="TextBox 12"/>
          <p:cNvSpPr txBox="1"/>
          <p:nvPr/>
        </p:nvSpPr>
        <p:spPr>
          <a:xfrm>
            <a:off x="6903720" y="1664208"/>
            <a:ext cx="16459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異常摘要</a:t>
            </a:r>
          </a:p>
        </p:txBody>
      </p:sp>
      <p:sp>
        <p:nvSpPr>
          <p:cNvPr id="10016" name="TextBox 13"/>
          <p:cNvSpPr txBox="1"/>
          <p:nvPr/>
        </p:nvSpPr>
        <p:spPr>
          <a:xfrm>
            <a:off x="6355080" y="2130552"/>
            <a:ext cx="2148840" cy="457200"/>
          </a:xfrm>
          <a:prstGeom prst="rect">
            <a:avLst/>
          </a:prstGeom>
        </p:spPr>
        <p:txBody>
          <a:bodyPr/>
          <a:lstStyle/>
          <a:p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兩期聚合值和變化百分比</a:t>
            </a:r>
          </a:p>
        </p:txBody>
      </p:sp>
      <p:sp>
        <p:nvSpPr>
          <p:cNvPr id="10017" name="TextBox 14"/>
          <p:cNvSpPr/>
          <p:nvPr/>
        </p:nvSpPr>
        <p:spPr>
          <a:xfrm>
            <a:off x="457200" y="28346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pic>
        <p:nvPicPr>
          <p:cNvPr id="10018" name="Picture 4" descr="使用者需求"/>
          <p:cNvPicPr>
            <a:picLocks noChangeAspect="1"/>
          </p:cNvPicPr>
          <p:nvPr/>
        </p:nvPicPr>
        <p:blipFill>
          <a:blip r:embed="R6bcb64a901d84c06">
            <a:extLst>
              <a:ext uri="{96DAC541-7B7A-43D3-8B79-37D633B846F1}">
                <asvg:svgBlip xmlns:asvg="http://schemas.microsoft.com/office/drawing/2016/SVG/main" r:embed="R4af0dfb7367f4875"/>
              </a:ext>
            </a:extLst>
          </a:blip>
          <a:stretch>
            <a:fillRect/>
          </a:stretch>
        </p:blipFill>
        <p:spPr>
          <a:xfrm>
            <a:off x="685800" y="3063240"/>
            <a:ext cx="411480" cy="411480"/>
          </a:xfrm>
          <a:prstGeom prst="rect">
            <a:avLst/>
          </a:prstGeom>
        </p:spPr>
      </p:pic>
      <p:sp>
        <p:nvSpPr>
          <p:cNvPr id="10019" name="TextBox 15"/>
          <p:cNvSpPr txBox="1"/>
          <p:nvPr/>
        </p:nvSpPr>
        <p:spPr>
          <a:xfrm>
            <a:off x="1234440" y="3081528"/>
            <a:ext cx="16459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使用者需求</a:t>
            </a:r>
          </a:p>
        </p:txBody>
      </p:sp>
      <p:sp>
        <p:nvSpPr>
          <p:cNvPr id="10020" name="TextBox 16"/>
          <p:cNvSpPr txBox="1"/>
          <p:nvPr/>
        </p:nvSpPr>
        <p:spPr>
          <a:xfrm>
            <a:off x="685800" y="3547872"/>
            <a:ext cx="2148840" cy="612000"/>
          </a:xfrm>
          <a:prstGeom prst="rect">
            <a:avLst/>
          </a:prstGeom>
        </p:spPr>
        <p:txBody>
          <a:bodyPr/>
          <a:lstStyle/>
          <a:p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需求句子和目前圖表的標題</a:t>
            </a:r>
          </a:p>
        </p:txBody>
      </p:sp>
      <p:sp>
        <p:nvSpPr>
          <p:cNvPr id="10021" name="TextBox 17"/>
          <p:cNvSpPr/>
          <p:nvPr/>
        </p:nvSpPr>
        <p:spPr>
          <a:xfrm>
            <a:off x="3291840" y="28346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pic>
        <p:nvPicPr>
          <p:cNvPr id="10022" name="Picture 5" descr="合併來源"/>
          <p:cNvPicPr>
            <a:picLocks noChangeAspect="1"/>
          </p:cNvPicPr>
          <p:nvPr/>
        </p:nvPicPr>
        <p:blipFill>
          <a:blip r:embed="Ra646dd828e6a44f0">
            <a:extLst>
              <a:ext uri="{96DAC541-7B7A-43D3-8B79-37D633B846F1}">
                <asvg:svgBlip xmlns:asvg="http://schemas.microsoft.com/office/drawing/2016/SVG/main" r:embed="R3c9d7bc3344c4ae9"/>
              </a:ext>
            </a:extLst>
          </a:blip>
          <a:stretch>
            <a:fillRect/>
          </a:stretch>
        </p:blipFill>
        <p:spPr>
          <a:xfrm>
            <a:off x="3520440" y="3063240"/>
            <a:ext cx="411480" cy="411480"/>
          </a:xfrm>
          <a:prstGeom prst="rect">
            <a:avLst/>
          </a:prstGeom>
        </p:spPr>
      </p:pic>
      <p:sp>
        <p:nvSpPr>
          <p:cNvPr id="10023" name="TextBox 18"/>
          <p:cNvSpPr txBox="1"/>
          <p:nvPr/>
        </p:nvSpPr>
        <p:spPr>
          <a:xfrm>
            <a:off x="4069080" y="3081528"/>
            <a:ext cx="16459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合併來源</a:t>
            </a:r>
          </a:p>
        </p:txBody>
      </p:sp>
      <p:sp>
        <p:nvSpPr>
          <p:cNvPr id="10024" name="TextBox 19"/>
          <p:cNvSpPr txBox="1"/>
          <p:nvPr/>
        </p:nvSpPr>
        <p:spPr>
          <a:xfrm>
            <a:off x="3520440" y="3547872"/>
            <a:ext cx="2148840" cy="612000"/>
          </a:xfrm>
          <a:prstGeom prst="rect">
            <a:avLst/>
          </a:prstGeom>
        </p:spPr>
        <p:txBody>
          <a:bodyPr/>
          <a:lstStyle/>
          <a:p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來源名稱、筆數和欄位清單</a:t>
            </a:r>
          </a:p>
        </p:txBody>
      </p:sp>
      <p:sp>
        <p:nvSpPr>
          <p:cNvPr id="10025" name="TextBox 20"/>
          <p:cNvSpPr/>
          <p:nvPr/>
        </p:nvSpPr>
        <p:spPr>
          <a:xfrm>
            <a:off x="6126480" y="28346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pic>
        <p:nvPicPr>
          <p:cNvPr id="10026" name="Picture 6" descr="永遠不送"/>
          <p:cNvPicPr>
            <a:picLocks noChangeAspect="1"/>
          </p:cNvPicPr>
          <p:nvPr/>
        </p:nvPicPr>
        <p:blipFill>
          <a:blip r:embed="R9cc028150ace49f5">
            <a:extLst>
              <a:ext uri="{96DAC541-7B7A-43D3-8B79-37D633B846F1}">
                <asvg:svgBlip xmlns:asvg="http://schemas.microsoft.com/office/drawing/2016/SVG/main" r:embed="R47e67f18e15e4c31"/>
              </a:ext>
            </a:extLst>
          </a:blip>
          <a:stretch>
            <a:fillRect/>
          </a:stretch>
        </p:blipFill>
        <p:spPr>
          <a:xfrm>
            <a:off x="6355080" y="3063240"/>
            <a:ext cx="411480" cy="411480"/>
          </a:xfrm>
          <a:prstGeom prst="rect">
            <a:avLst/>
          </a:prstGeom>
        </p:spPr>
      </p:pic>
      <p:sp>
        <p:nvSpPr>
          <p:cNvPr id="10027" name="TextBox 21"/>
          <p:cNvSpPr txBox="1"/>
          <p:nvPr/>
        </p:nvSpPr>
        <p:spPr>
          <a:xfrm>
            <a:off x="6903720" y="3081528"/>
            <a:ext cx="1645920" cy="396000"/>
          </a:xfrm>
          <a:prstGeom prst="rect">
            <a:avLst/>
          </a:prstGeom>
        </p:spPr>
        <p:txBody>
          <a:bodyPr/>
          <a:lstStyle/>
          <a:p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永遠不送</a:t>
            </a:r>
          </a:p>
        </p:txBody>
      </p:sp>
      <p:sp>
        <p:nvSpPr>
          <p:cNvPr id="10028" name="TextBox 22"/>
          <p:cNvSpPr txBox="1"/>
          <p:nvPr/>
        </p:nvSpPr>
        <p:spPr>
          <a:xfrm>
            <a:off x="6355080" y="3547872"/>
            <a:ext cx="2148840" cy="457200"/>
          </a:xfrm>
          <a:prstGeom prst="rect">
            <a:avLst/>
          </a:prstGeom>
        </p:spPr>
        <p:txBody>
          <a:bodyPr/>
          <a:lstStyle/>
          <a:p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原始資料列</a:t>
            </a:r>
          </a:p>
        </p:txBody>
      </p:sp>
      <p:sp>
        <p:nvSpPr>
          <p:cNvPr id="10029" name="TextBox 23"/>
          <p:cNvSpPr txBox="1"/>
          <p:nvPr/>
        </p:nvSpPr>
        <p:spPr>
          <a:xfrm>
            <a:off x="457200" y="4206240"/>
            <a:ext cx="8229600" cy="360000"/>
          </a:xfrm>
          <a:prstGeom prst="rect">
            <a:avLst/>
          </a:prstGeom>
        </p:spPr>
        <p:txBody>
          <a:bodyPr/>
          <a:lstStyle/>
          <a:p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勾成敏感的欄位，只送名稱和型別</a:t>
            </a:r>
          </a:p>
        </p:txBody>
      </p:sp>
      <p:sp>
        <p:nvSpPr>
          <p:cNvPr id="10030" name="TextBox 24"/>
          <p:cNvSpPr txBox="1"/>
          <p:nvPr/>
        </p:nvSpPr>
        <p:spPr>
          <a:xfrm>
            <a:off x="457200" y="4572000"/>
            <a:ext cx="4572000" cy="288000"/>
          </a:xfrm>
          <a:prstGeom prst="rect">
            <a:avLst/>
          </a:prstGeom>
        </p:spPr>
        <p:txBody>
          <a:bodyPr/>
          <a:lstStyle/>
          <a:p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10031" name="TextBox 25"/>
          <p:cNvSpPr txBox="1"/>
          <p:nvPr/>
        </p:nvSpPr>
        <p:spPr>
          <a:xfrm>
            <a:off x="7772400" y="4572000"/>
            <a:ext cx="914400" cy="288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10</a:t>
            </a:r>
          </a:p>
        </p:txBody>
      </p:sp>
    </p:spTree>
  </p:cSld>
  <mc:AlternateContent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 xmlns:asvg="http://schemas.microsoft.com/office/drawing/2016/SVG/main">
    <mc:Choice Requires="p159">
      <p:transition xmlns:p159="http://schemas.microsoft.com/office/powerpoint/2015/09/main" p14:dur="1200">
        <p159:morph option="byObject"/>
      </p:transition>
    </mc:Choice>
    <mc:Fallback>
      <p:transition>
        <p:fade/>
      </p:transition>
    </mc:Fallback>
  </mc:AlternateContent>
  <p:timing xmlns:p="http://schemas.openxmlformats.org/presentationml/2006/main" xmlns:a="http://schemas.openxmlformats.org/drawingml/2006/main" xmlns:r="http://schemas.openxmlformats.org/officeDocument/2006/relationships" xmlns:p159="http://schemas.microsoft.com/office/powerpoint/2015/09/main" xmlns:mc="http://schemas.openxmlformats.org/markup-compatibility/2006" xmlns:p14="http://schemas.microsoft.com/office/powerpoint/2010/main" xmlns:asvg="http://schemas.microsoft.com/office/drawing/2016/SVG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"/>
                            </p:stCondLst>
                            <p:childTnLst>
                              <p:par>
                                <p:cTn id="2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"/>
                            </p:stCondLst>
                            <p:childTnLst>
                              <p:par>
                                <p:cTn id="2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"/>
                            </p:stCondLst>
                            <p:childTnLst>
                              <p:par>
                                <p:cTn id="3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"/>
                            </p:stCondLst>
                            <p:childTnLst>
                              <p:par>
                                <p:cTn id="39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"/>
                            </p:stCondLst>
                            <p:childTnLst>
                              <p:par>
                                <p:cTn id="44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"/>
                            </p:stCondLst>
                            <p:childTnLst>
                              <p:par>
                                <p:cTn id="49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"/>
                            </p:stCondLst>
                            <p:childTnLst>
                              <p:par>
                                <p:cTn id="54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"/>
                            </p:stCondLst>
                            <p:childTnLst>
                              <p:par>
                                <p:cTn id="59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"/>
                            </p:stCondLst>
                            <p:childTnLst>
                              <p:par>
                                <p:cTn id="64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"/>
                            </p:stCondLst>
                            <p:childTnLst>
                              <p:par>
                                <p:cTn id="69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"/>
                            </p:stCondLst>
                            <p:childTnLst>
                              <p:par>
                                <p:cTn id="74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50"/>
                            </p:stCondLst>
                            <p:childTnLst>
                              <p:par>
                                <p:cTn id="79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"/>
                            </p:stCondLst>
                            <p:childTnLst>
                              <p:par>
                                <p:cTn id="84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89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1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1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00"/>
                            </p:stCondLst>
                            <p:childTnLst>
                              <p:par>
                                <p:cTn id="99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1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06" dur="400" fill="hold"/>
                                        <p:tgtEl>
                                          <p:spTgt spid="1002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12" dur="400" fill="hold"/>
                                        <p:tgtEl>
                                          <p:spTgt spid="1002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17" dur="400" fill="hold"/>
                                        <p:tgtEl>
                                          <p:spTgt spid="1002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2" dur="400" fill="hold"/>
                                        <p:tgtEl>
                                          <p:spTgt spid="1002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mph" presetSubtype="0" dur="400" fill="hold" grpId="24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25" dur="indefinite"/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6" dur="indefinite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mph" presetSubtype="0" dur="400" fill="hold" grpId="25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29" dur="indefinite"/>
                                        <p:tgtEl>
                                          <p:spTgt spid="100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0" dur="indefinite"/>
                                        <p:tgtEl>
                                          <p:spTgt spid="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mph" presetSubtype="0" dur="400" fill="hold" grpId="26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33" dur="indefinite"/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4" dur="indefinite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mph" presetSubtype="0" dur="400" fill="hold" grpId="27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37" dur="indefinite"/>
                                        <p:tgtEl>
                                          <p:spTgt spid="100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8" dur="indefinite"/>
                                        <p:tgtEl>
                                          <p:spTgt spid="1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mph" presetSubtype="0" dur="400" fill="hold" grpId="28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41" dur="indefinite"/>
                                        <p:tgtEl>
                                          <p:spTgt spid="100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2" dur="indefinite"/>
                                        <p:tgtEl>
                                          <p:spTgt spid="1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mph" presetSubtype="0" dur="400" fill="hold" grpId="29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45" dur="indefinite"/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6" dur="indefinite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mph" presetSubtype="0" dur="400" fill="hold" grpId="30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49" dur="indefinite"/>
                                        <p:tgtEl>
                                          <p:spTgt spid="100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0" dur="indefinite"/>
                                        <p:tgtEl>
                                          <p:spTgt spid="1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mph" presetSubtype="0" dur="400" fill="hold" grpId="31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53" dur="indefinite"/>
                                        <p:tgtEl>
                                          <p:spTgt spid="100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4" dur="indefinite"/>
                                        <p:tgtEl>
                                          <p:spTgt spid="1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mph" presetSubtype="0" dur="400" fill="hold" grpId="32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57" dur="indefinite"/>
                                        <p:tgtEl>
                                          <p:spTgt spid="100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8" dur="indefinite"/>
                                        <p:tgtEl>
                                          <p:spTgt spid="1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mph" presetSubtype="0" dur="400" fill="hold" grpId="33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61" dur="indefinite"/>
                                        <p:tgtEl>
                                          <p:spTgt spid="100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2" dur="indefinite"/>
                                        <p:tgtEl>
                                          <p:spTgt spid="1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mph" presetSubtype="0" dur="400" fill="hold" grpId="34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65" dur="indefinite"/>
                                        <p:tgtEl>
                                          <p:spTgt spid="100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6" dur="indefinite"/>
                                        <p:tgtEl>
                                          <p:spTgt spid="1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mph" presetSubtype="0" dur="400" fill="hold" grpId="35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69" dur="indefinite"/>
                                        <p:tgtEl>
                                          <p:spTgt spid="100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0" dur="indefinite"/>
                                        <p:tgtEl>
                                          <p:spTgt spid="1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mph" presetSubtype="0" dur="400" fill="hold" grpId="36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73" dur="indefinite"/>
                                        <p:tgtEl>
                                          <p:spTgt spid="100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4" dur="indefinite"/>
                                        <p:tgtEl>
                                          <p:spTgt spid="1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mph" presetSubtype="0" dur="400" fill="hold" grpId="37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77" dur="indefinite"/>
                                        <p:tgtEl>
                                          <p:spTgt spid="100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8" dur="indefinite"/>
                                        <p:tgtEl>
                                          <p:spTgt spid="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mph" presetSubtype="0" dur="400" fill="hold" grpId="38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81" dur="indefinite"/>
                                        <p:tgtEl>
                                          <p:spTgt spid="100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2" dur="indefinite"/>
                                        <p:tgtEl>
                                          <p:spTgt spid="1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mph" presetSubtype="0" dur="400" fill="hold" grpId="39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85" dur="indefinite"/>
                                        <p:tgtEl>
                                          <p:spTgt spid="100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6" dur="indefinite"/>
                                        <p:tgtEl>
                                          <p:spTgt spid="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mph" presetSubtype="0" dur="400" fill="hold" grpId="40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89" dur="indefinite"/>
                                        <p:tgtEl>
                                          <p:spTgt spid="100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0" dur="indefinite"/>
                                        <p:tgtEl>
                                          <p:spTgt spid="1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mph" presetSubtype="0" dur="400" fill="hold" grpId="41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93" dur="indefinite"/>
                                        <p:tgtEl>
                                          <p:spTgt spid="100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4" dur="indefinite"/>
                                        <p:tgtEl>
                                          <p:spTgt spid="1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mph" presetSubtype="0" dur="400" fill="hold" grpId="42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197" dur="indefinite"/>
                                        <p:tgtEl>
                                          <p:spTgt spid="100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8" dur="indefinite"/>
                                        <p:tgtEl>
                                          <p:spTgt spid="1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mph" presetSubtype="0" dur="400" fill="hold" grpId="43" nodeType="withEffect">
                                  <p:stCondLst>
                                    <p:cond delay="0"/>
                                  </p:stCondLst>
                                  <p:childTnLst xmlns:p="http://schemas.openxmlformats.org/presentationml/2006/main" xmlns:a="http://schemas.openxmlformats.org/drawingml/2006/main" xmlns:r="http://schemas.openxmlformats.org/officeDocument/2006/relationships">
                                    <p:set>
                                      <p:cBhvr>
                                        <p:cTn id="201" dur="indefinite"/>
                                        <p:tgtEl>
                                          <p:spTgt spid="100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2" dur="indefinite"/>
                                        <p:tgtEl>
                                          <p:spTgt spid="1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" grpId="0"/>
      <p:bldP spid="10007" grpId="2"/>
      <p:bldP spid="10008" grpId="3"/>
      <p:bldP spid="10009" grpId="4"/>
      <p:bldP spid="10011" grpId="6"/>
      <p:bldP spid="10012" grpId="7"/>
      <p:bldP spid="10013" grpId="8"/>
      <p:bldP spid="10015" grpId="10"/>
      <p:bldP spid="10016" grpId="11"/>
      <p:bldP spid="10017" grpId="12"/>
      <p:bldP spid="10019" grpId="14"/>
      <p:bldP spid="10020" grpId="15"/>
      <p:bldP spid="10021" grpId="16"/>
      <p:bldP spid="10023" grpId="18"/>
      <p:bldP spid="10024" grpId="19"/>
      <p:bldP spid="10025" grpId="20"/>
      <p:bldP spid="10027" grpId="22"/>
      <p:bldP spid="10028" grpId="23"/>
    </p:bldLst>
  </p:timing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11001" name="!!orb-violet"/>
          <p:cNvSpPr/>
          <p:nvPr/>
        </p:nvSpPr>
        <p:spPr>
          <a:xfrm xmlns:a="http://schemas.openxmlformats.org/drawingml/2006/main">
            <a:off x="7040880" y="3566160"/>
            <a:ext cx="3474720" cy="347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EA">
              <a:alpha val="5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86868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02" name="!!orb-pink"/>
          <p:cNvSpPr/>
          <p:nvPr/>
        </p:nvSpPr>
        <p:spPr>
          <a:xfrm xmlns:a="http://schemas.openxmlformats.org/drawingml/2006/main">
            <a:off x="457200" y="-17373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3FB">
              <a:alpha val="45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6858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03" name="!!orb-cyan"/>
          <p:cNvSpPr/>
          <p:nvPr/>
        </p:nvSpPr>
        <p:spPr>
          <a:xfrm xmlns:a="http://schemas.openxmlformats.org/drawingml/2006/main">
            <a:off x="-548640" y="365760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2FE">
              <a:alpha val="3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36576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04" name="TextBox 4"/>
          <p:cNvSpPr txBox="1"/>
          <p:nvPr/>
        </p:nvSpPr>
        <p:spPr>
          <a:xfrm xmlns:a="http://schemas.openxmlformats.org/drawingml/2006/main">
            <a:off x="457200" y="365760"/>
            <a:ext cx="8229600" cy="822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同一套分工已經用在四個地方</a:t>
            </a:r>
          </a:p>
        </p:txBody>
      </p:sp>
      <p:sp>
        <p:nvSpPr>
          <p:cNvPr id="11005" name="TextBox 5"/>
          <p:cNvSpPr txBox="1"/>
          <p:nvPr/>
        </p:nvSpPr>
        <p:spPr>
          <a:xfrm xmlns:a="http://schemas.openxmlformats.org/drawingml/2006/main">
            <a:off x="640080" y="1371600"/>
            <a:ext cx="1828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050" b="1">
                <a:solidFill>
                  <a:srgbClr val="D6D3F0"/>
                </a:solidFill>
                <a:latin typeface="Noto Sans TC"/>
                <a:ea typeface="Noto Sans TC"/>
              </a:rPr>
              <a:t>場景</a:t>
            </a:r>
          </a:p>
        </p:txBody>
      </p:sp>
      <p:sp>
        <p:nvSpPr>
          <p:cNvPr id="11006" name="TextBox 6"/>
          <p:cNvSpPr txBox="1"/>
          <p:nvPr/>
        </p:nvSpPr>
        <p:spPr>
          <a:xfrm xmlns:a="http://schemas.openxmlformats.org/drawingml/2006/main">
            <a:off x="2651760" y="1371600"/>
            <a:ext cx="283464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050" b="1">
                <a:solidFill>
                  <a:srgbClr val="00F2FE"/>
                </a:solidFill>
                <a:latin typeface="Noto Sans TC"/>
                <a:ea typeface="Noto Sans TC"/>
              </a:rPr>
              <a:t>JEV 回答</a:t>
            </a:r>
          </a:p>
        </p:txBody>
      </p:sp>
      <p:sp>
        <p:nvSpPr>
          <p:cNvPr id="11007" name="TextBox 7"/>
          <p:cNvSpPr txBox="1"/>
          <p:nvPr/>
        </p:nvSpPr>
        <p:spPr>
          <a:xfrm xmlns:a="http://schemas.openxmlformats.org/drawingml/2006/main">
            <a:off x="5669280" y="1371600"/>
            <a:ext cx="29260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050" b="1">
                <a:solidFill>
                  <a:srgbClr val="D6D3F0"/>
                </a:solidFill>
                <a:latin typeface="Noto Sans TC"/>
                <a:ea typeface="Noto Sans TC"/>
              </a:rPr>
              <a:t>後端決定</a:t>
            </a:r>
          </a:p>
        </p:txBody>
      </p:sp>
      <p:sp>
        <p:nvSpPr>
          <p:cNvPr id="11008" name="TextBox 8"/>
          <p:cNvSpPr/>
          <p:nvPr/>
        </p:nvSpPr>
        <p:spPr>
          <a:xfrm xmlns:a="http://schemas.openxmlformats.org/drawingml/2006/main">
            <a:off x="457200" y="1783080"/>
            <a:ext cx="8229600" cy="59436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09" name="TextBox 9"/>
          <p:cNvSpPr txBox="1"/>
          <p:nvPr/>
        </p:nvSpPr>
        <p:spPr>
          <a:xfrm xmlns:a="http://schemas.openxmlformats.org/drawingml/2006/main">
            <a:off x="640080" y="1783080"/>
            <a:ext cx="18288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產生儀表板</a:t>
            </a:r>
          </a:p>
        </p:txBody>
      </p:sp>
      <p:sp>
        <p:nvSpPr>
          <p:cNvPr id="11010" name="TextBox 10"/>
          <p:cNvSpPr txBox="1"/>
          <p:nvPr/>
        </p:nvSpPr>
        <p:spPr>
          <a:xfrm xmlns:a="http://schemas.openxmlformats.org/drawingml/2006/main">
            <a:off x="2651760" y="1783080"/>
            <a:ext cx="28346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欄位重要性、角色、圖型</a:t>
            </a:r>
          </a:p>
        </p:txBody>
      </p:sp>
      <p:sp>
        <p:nvSpPr>
          <p:cNvPr id="11011" name="TextBox 11"/>
          <p:cNvSpPr txBox="1"/>
          <p:nvPr/>
        </p:nvSpPr>
        <p:spPr>
          <a:xfrm xmlns:a="http://schemas.openxmlformats.org/drawingml/2006/main">
            <a:off x="5669280" y="1783080"/>
            <a:ext cx="292608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合法組合、mapping、版面</a:t>
            </a:r>
          </a:p>
        </p:txBody>
      </p:sp>
      <p:sp>
        <p:nvSpPr>
          <p:cNvPr id="11012" name="TextBox 12"/>
          <p:cNvSpPr/>
          <p:nvPr/>
        </p:nvSpPr>
        <p:spPr>
          <a:xfrm xmlns:a="http://schemas.openxmlformats.org/drawingml/2006/main">
            <a:off x="457200" y="2468880"/>
            <a:ext cx="8229600" cy="59436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13" name="TextBox 13"/>
          <p:cNvSpPr txBox="1"/>
          <p:nvPr/>
        </p:nvSpPr>
        <p:spPr>
          <a:xfrm xmlns:a="http://schemas.openxmlformats.org/drawingml/2006/main">
            <a:off x="640080" y="2468880"/>
            <a:ext cx="18288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依需求調整</a:t>
            </a:r>
          </a:p>
        </p:txBody>
      </p:sp>
      <p:sp>
        <p:nvSpPr>
          <p:cNvPr id="11014" name="TextBox 14"/>
          <p:cNvSpPr txBox="1"/>
          <p:nvPr/>
        </p:nvSpPr>
        <p:spPr>
          <a:xfrm xmlns:a="http://schemas.openxmlformats.org/drawingml/2006/main">
            <a:off x="2651760" y="2468880"/>
            <a:ext cx="28346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欄位相不相關、圖要不要留</a:t>
            </a:r>
          </a:p>
        </p:txBody>
      </p:sp>
      <p:sp>
        <p:nvSpPr>
          <p:cNvPr id="11015" name="TextBox 15"/>
          <p:cNvSpPr txBox="1"/>
          <p:nvPr/>
        </p:nvSpPr>
        <p:spPr>
          <a:xfrm xmlns:a="http://schemas.openxmlformats.org/drawingml/2006/main">
            <a:off x="5669280" y="2468880"/>
            <a:ext cx="292608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焦點排序、保留與補位、新圖編號</a:t>
            </a:r>
          </a:p>
        </p:txBody>
      </p:sp>
      <p:sp>
        <p:nvSpPr>
          <p:cNvPr id="11016" name="TextBox 16"/>
          <p:cNvSpPr/>
          <p:nvPr/>
        </p:nvSpPr>
        <p:spPr>
          <a:xfrm xmlns:a="http://schemas.openxmlformats.org/drawingml/2006/main">
            <a:off x="457200" y="3154680"/>
            <a:ext cx="8229600" cy="59436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17" name="TextBox 17"/>
          <p:cNvSpPr txBox="1"/>
          <p:nvPr/>
        </p:nvSpPr>
        <p:spPr>
          <a:xfrm xmlns:a="http://schemas.openxmlformats.org/drawingml/2006/main">
            <a:off x="640080" y="3154680"/>
            <a:ext cx="18288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載入時異常檢查</a:t>
            </a:r>
          </a:p>
        </p:txBody>
      </p:sp>
      <p:sp>
        <p:nvSpPr>
          <p:cNvPr id="11018" name="TextBox 18"/>
          <p:cNvSpPr txBox="1"/>
          <p:nvPr/>
        </p:nvSpPr>
        <p:spPr>
          <a:xfrm xmlns:a="http://schemas.openxmlformats.org/drawingml/2006/main">
            <a:off x="2651760" y="3154680"/>
            <a:ext cx="28346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有沒有異常、嚴重程度</a:t>
            </a:r>
          </a:p>
        </p:txBody>
      </p:sp>
      <p:sp>
        <p:nvSpPr>
          <p:cNvPr id="11019" name="TextBox 19"/>
          <p:cNvSpPr txBox="1"/>
          <p:nvPr/>
        </p:nvSpPr>
        <p:spPr>
          <a:xfrm xmlns:a="http://schemas.openxmlformats.org/drawingml/2006/main">
            <a:off x="5669280" y="3154680"/>
            <a:ext cx="292608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檢查哪些卡片、比哪兩期、快取</a:t>
            </a:r>
          </a:p>
        </p:txBody>
      </p:sp>
      <p:sp>
        <p:nvSpPr>
          <p:cNvPr id="11020" name="TextBox 20"/>
          <p:cNvSpPr/>
          <p:nvPr/>
        </p:nvSpPr>
        <p:spPr>
          <a:xfrm xmlns:a="http://schemas.openxmlformats.org/drawingml/2006/main">
            <a:off x="457200" y="3840480"/>
            <a:ext cx="8229600" cy="59436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</a:ln>
          <a:effectLst xmlns:a="http://schemas.openxmlformats.org/drawingml/2006/main">
            <a:outerShdw blurRad="228600" dist="76200" dir="5400000" algn="t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21" name="TextBox 21"/>
          <p:cNvSpPr txBox="1"/>
          <p:nvPr/>
        </p:nvSpPr>
        <p:spPr>
          <a:xfrm xmlns:a="http://schemas.openxmlformats.org/drawingml/2006/main">
            <a:off x="640080" y="3840480"/>
            <a:ext cx="18288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600" b="1">
                <a:solidFill>
                  <a:srgbClr val="FFFFFF"/>
                </a:solidFill>
                <a:latin typeface="Noto Sans TC"/>
                <a:ea typeface="Noto Sans TC"/>
              </a:rPr>
              <a:t>合併時對欄位</a:t>
            </a:r>
          </a:p>
        </p:txBody>
      </p:sp>
      <p:sp>
        <p:nvSpPr>
          <p:cNvPr id="11022" name="TextBox 22"/>
          <p:cNvSpPr txBox="1"/>
          <p:nvPr/>
        </p:nvSpPr>
        <p:spPr>
          <a:xfrm xmlns:a="http://schemas.openxmlformats.org/drawingml/2006/main">
            <a:off x="2651760" y="3840480"/>
            <a:ext cx="28346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哪兩個欄位是同一種資料</a:t>
            </a:r>
          </a:p>
        </p:txBody>
      </p:sp>
      <p:sp>
        <p:nvSpPr>
          <p:cNvPr id="11023" name="TextBox 23"/>
          <p:cNvSpPr txBox="1"/>
          <p:nvPr/>
        </p:nvSpPr>
        <p:spPr>
          <a:xfrm xmlns:a="http://schemas.openxmlformats.org/drawingml/2006/main">
            <a:off x="5669280" y="3840480"/>
            <a:ext cx="292608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zh-TW" sz="1400" b="0">
                <a:solidFill>
                  <a:srgbClr val="D6D3F0"/>
                </a:solidFill>
                <a:latin typeface="Noto Sans TC"/>
                <a:ea typeface="Noto Sans TC"/>
              </a:rPr>
              <a:t>候選範圍、採用門檻、衝突取捨</a:t>
            </a:r>
          </a:p>
        </p:txBody>
      </p:sp>
      <p:sp>
        <p:nvSpPr>
          <p:cNvPr id="11024" name="TextBox 24"/>
          <p:cNvSpPr txBox="1"/>
          <p:nvPr/>
        </p:nvSpPr>
        <p:spPr>
          <a:xfrm xmlns:a="http://schemas.openxmlformats.org/drawingml/2006/main">
            <a:off x="457200" y="4572000"/>
            <a:ext cx="4572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JEV 智慧化產製儀表板</a:t>
            </a:r>
          </a:p>
        </p:txBody>
      </p:sp>
      <p:sp>
        <p:nvSpPr>
          <p:cNvPr id="11025" name="TextBox 25"/>
          <p:cNvSpPr txBox="1"/>
          <p:nvPr/>
        </p:nvSpPr>
        <p:spPr>
          <a:xfrm xmlns:a="http://schemas.openxmlformats.org/drawingml/2006/main">
            <a:off x="7772400" y="4572000"/>
            <a:ext cx="9144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11</a:t>
            </a:r>
          </a:p>
        </p:txBody>
      </p:sp>
    </p:spTree>
  </p:cSld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1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1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1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1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00" fill="hold"/>
                                        <p:tgtEl>
                                          <p:spTgt spid="1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1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1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00" fill="hold"/>
                                        <p:tgtEl>
                                          <p:spTgt spid="1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400" fill="hold"/>
                                        <p:tgtEl>
                                          <p:spTgt spid="11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" grpId="0"/>
      <p:bldP spid="11009" grpId="1"/>
      <p:bldP spid="11010" grpId="2"/>
      <p:bldP spid="11011" grpId="3"/>
      <p:bldP spid="11012" grpId="4"/>
      <p:bldP spid="11013" grpId="5"/>
      <p:bldP spid="11014" grpId="6"/>
      <p:bldP spid="11015" grpId="7"/>
      <p:bldP spid="11016" grpId="8"/>
      <p:bldP spid="11017" grpId="9"/>
      <p:bldP spid="11018" grpId="10"/>
      <p:bldP spid="11019" grpId="11"/>
      <p:bldP spid="11020" grpId="12"/>
      <p:bldP spid="11021" grpId="13"/>
      <p:bldP spid="11022" grpId="14"/>
      <p:bldP spid="11023" grpId="15"/>
    </p:bldLst>
  </p:timing>
</p:sld>
</file>

<file path=ppt/slides/slide12.xml><?xml version="1.0" encoding="utf-8"?>
<p:sld xmlns:a16="http://schemas.microsoft.com/office/drawing/2014/main" xmlns:pslz="http://schemas.microsoft.com/office/powerpoint/2016/slidezoom" xmlns:a="http://schemas.openxmlformats.org/drawingml/2006/main" xmlns:r="http://schemas.openxmlformats.org/officeDocument/2006/relationships" xmlns:p166="http://schemas.microsoft.com/office/powerpoint/2016/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 pslz">
  <p:cSld xmlns:a16="http://schemas.microsoft.com/office/drawing/2014/main" xmlns:pslz="http://schemas.microsoft.com/office/powerpoint/2016/slidezoom" xmlns:a="http://schemas.openxmlformats.org/drawingml/2006/main" xmlns:r="http://schemas.openxmlformats.org/officeDocument/2006/relationships" xmlns:p166="http://schemas.microsoft.com/office/powerpoint/2016/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>
    <p:bg>
      <p:bgPr>
        <a:gradFill>
          <a:gsLst>
            <a:gs pos="0">
              <a:srgbClr val="1F1C5C"/>
            </a:gs>
            <a:gs pos="100000">
              <a:srgbClr val="5B1F6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/>
      <p:sp>
        <p:nvSpPr>
          <p:cNvPr id="12001" name="!!orb-violet"/>
          <p:cNvSpPr/>
          <p:nvPr/>
        </p:nvSpPr>
        <p:spPr>
          <a:xfrm>
            <a:off x="5394960" y="-822960"/>
            <a:ext cx="3840480" cy="384048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960119"/>
          </a:effectLst>
        </p:spPr>
        <p:txBody>
          <a:bodyPr/>
          <a:lstStyle/>
          <a:p/>
        </p:txBody>
      </p:sp>
      <p:sp>
        <p:nvSpPr>
          <p:cNvPr id="12002" name="!!orb-pink"/>
          <p:cNvSpPr/>
          <p:nvPr/>
        </p:nvSpPr>
        <p:spPr>
          <a:xfrm>
            <a:off x="3931920" y="3383280"/>
            <a:ext cx="3108960" cy="310896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77240"/>
          </a:effectLst>
        </p:spPr>
        <p:txBody>
          <a:bodyPr/>
          <a:lstStyle/>
          <a:p/>
        </p:txBody>
      </p:sp>
      <p:sp>
        <p:nvSpPr>
          <p:cNvPr id="12003" name="!!orb-cyan"/>
          <p:cNvSpPr/>
          <p:nvPr/>
        </p:nvSpPr>
        <p:spPr>
          <a:xfrm>
            <a:off x="91440" y="3931920"/>
            <a:ext cx="1645920" cy="164592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411480"/>
          </a:effectLst>
        </p:spPr>
        <p:txBody>
          <a:bodyPr/>
          <a:lstStyle/>
          <a:p/>
        </p:txBody>
      </p:sp>
      <p:sp>
        <p:nvSpPr>
          <p:cNvPr id="12004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effectLst>
            <a:outerShdw blurRad="50800" dist="19050" dir="5400000" algn="tl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r>
              <a:rPr lang="zh-TW" sz="2600" b="1">
                <a:solidFill>
                  <a:srgbClr val="FFFFFF"/>
                </a:solidFill>
                <a:latin typeface="Noto Sans TC"/>
                <a:ea typeface="Noto Sans TC"/>
              </a:rPr>
              <a:t>套到自己專案：先列題目，再寫規則</a:t>
            </a:r>
          </a:p>
        </p:txBody>
      </p:sp>
      <p:sp>
        <p:nvSpPr>
          <p:cNvPr id="12005" name="TextBox 5"/>
          <p:cNvSpPr/>
          <p:nvPr/>
        </p:nvSpPr>
        <p:spPr>
          <a:xfrm>
            <a:off x="457200" y="1664208"/>
            <a:ext cx="411480" cy="411480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lIns="0" tIns="0" rIns="0" bIns="0" anchor="ctr"/>
          <a:lstStyle/>
          <a:p>
            <a:pPr algn="ctr"/>
            <a:r>
              <a:rPr lang="zh-TW" sz="1600" b="1">
                <a:solidFill>
                  <a:srgbClr val="00F2FE"/>
                </a:solidFill>
                <a:latin typeface="Noto Sans TC"/>
                <a:ea typeface="Noto Sans TC"/>
              </a:rPr>
              <a:t>1</a:t>
            </a:r>
          </a:p>
        </p:txBody>
      </p:sp>
      <p:sp>
        <p:nvSpPr>
          <p:cNvPr id="12006" name="TextBox 6"/>
          <p:cNvSpPr txBox="1"/>
          <p:nvPr/>
        </p:nvSpPr>
        <p:spPr>
          <a:xfrm>
            <a:off x="1051560" y="1417320"/>
            <a:ext cx="4846320" cy="91440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把要模型做的事，改寫成 score 和 choice 題目</a:t>
            </a:r>
          </a:p>
        </p:txBody>
      </p:sp>
      <mc:AlternateContent>
        <mc:Choice xmlns:pslz="http://schemas.microsoft.com/office/powerpoint/2016/slidezoom" Requires="pslz">
          <p:graphicFrame xmlns:a="http://schemas.openxmlformats.org/drawingml/2006/main" xmlns:r="http://schemas.openxmlformats.org/officeDocument/2006/relationships">
            <p:nvGraphicFramePr>
              <p:cNvPr id="100000" name="zoom-5">
                <a:extLst>
                  <a:ext uri="{FF2B5EF4-FFF2-40B4-BE49-F238E27FC236}">
                    <a16:creationId xmlns:a16="http://schemas.microsoft.com/office/drawing/2014/main" id="{07732652-4D79-43AC-BF56-E75A573E31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58000" y="1417320"/>
              <a:ext cx="1645920" cy="925830"/>
            </p:xfrm>
            <a:graphic>
              <a:graphicData uri="http://schemas.microsoft.com/office/powerpoint/2016/slidezoom">
                <pslz:sldZm>
                  <pslz:sldZmObj sldId="260" cId="0">
                    <pslz:zmPr xmlns:p166="http://schemas.microsoft.com/office/powerpoint/2016/6/main" id="{D837BBC1-23A5-45C3-98F9-BF04A40B14C7}" returnToParent="0" transitionDur="1000">
                      <p166:blipFill>
                        <a:blip r:embed="R8e633ffe91584b21"/>
                        <a:stretch>
                          <a:fillRect/>
                        </a:stretch>
                      </p166:blipFill>
                      <p166:spPr>
                        <a:xfrm>
                          <a:off x="0" y="0"/>
                          <a:ext cx="1645920" cy="9258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 xmlns:a="http://schemas.openxmlformats.org/drawingml/2006/main" xmlns:r="http://schemas.openxmlformats.org/officeDocument/2006/relationships">
            <p:nvPicPr>
              <p:cNvPr id="100000" name="zoom-5">
                <a:hlinkClick r:id="Rea6988a3af184222" action="ppaction://hlinksldjump"/>
                <a:extLst>
                  <a:ext uri="{FF2B5EF4-FFF2-40B4-BE49-F238E27FC236}">
                    <a16:creationId xmlns:a16="http://schemas.microsoft.com/office/drawing/2014/main" id="{07732652-4D79-43AC-BF56-E75A573E31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8e633ffe91584b21"/>
              <a:stretch>
                <a:fillRect/>
              </a:stretch>
            </p:blipFill>
            <p:spPr>
              <a:xfrm>
                <a:off x="6858000" y="1417320"/>
                <a:ext cx="1645920" cy="9258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008" name="TextBox 7"/>
          <p:cNvSpPr/>
          <p:nvPr/>
        </p:nvSpPr>
        <p:spPr>
          <a:xfrm>
            <a:off x="457200" y="2670048"/>
            <a:ext cx="411480" cy="411480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lIns="0" tIns="0" rIns="0" bIns="0" anchor="ctr"/>
          <a:lstStyle/>
          <a:p>
            <a:pPr algn="ctr"/>
            <a:r>
              <a:rPr lang="zh-TW" sz="1600" b="1">
                <a:solidFill>
                  <a:srgbClr val="00F2FE"/>
                </a:solidFill>
                <a:latin typeface="Noto Sans TC"/>
                <a:ea typeface="Noto Sans TC"/>
              </a:rPr>
              <a:t>2</a:t>
            </a:r>
          </a:p>
        </p:txBody>
      </p:sp>
      <p:sp>
        <p:nvSpPr>
          <p:cNvPr id="12009" name="TextBox 8"/>
          <p:cNvSpPr txBox="1"/>
          <p:nvPr/>
        </p:nvSpPr>
        <p:spPr>
          <a:xfrm>
            <a:off x="1051560" y="2423160"/>
            <a:ext cx="4846320" cy="91440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合法性、彙總、版面寫成後端純函式，能寫單元測試</a:t>
            </a:r>
          </a:p>
        </p:txBody>
      </p:sp>
      <mc:AlternateContent>
        <mc:Choice xmlns:pslz="http://schemas.microsoft.com/office/powerpoint/2016/slidezoom" Requires="pslz">
          <p:graphicFrame xmlns:a="http://schemas.openxmlformats.org/drawingml/2006/main" xmlns:r="http://schemas.openxmlformats.org/officeDocument/2006/relationships">
            <p:nvGraphicFramePr>
              <p:cNvPr id="100001" name="zoom-7">
                <a:extLst>
                  <a:ext uri="{FF2B5EF4-FFF2-40B4-BE49-F238E27FC236}">
                    <a16:creationId xmlns:a16="http://schemas.microsoft.com/office/drawing/2014/main" id="{8E81C174-E173-43DA-8B35-13770863EC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58000" y="2423160"/>
              <a:ext cx="1645920" cy="925830"/>
            </p:xfrm>
            <a:graphic>
              <a:graphicData uri="http://schemas.microsoft.com/office/powerpoint/2016/slidezoom">
                <pslz:sldZm>
                  <pslz:sldZmObj sldId="262" cId="0">
                    <pslz:zmPr xmlns:p166="http://schemas.microsoft.com/office/powerpoint/2016/6/main" id="{5D161A3A-1543-4EDD-8BB4-33947EBB31EB}" returnToParent="0" transitionDur="1000">
                      <p166:blipFill>
                        <a:blip r:embed="Rd5f58048e5b34240"/>
                        <a:stretch>
                          <a:fillRect/>
                        </a:stretch>
                      </p166:blipFill>
                      <p166:spPr>
                        <a:xfrm>
                          <a:off x="0" y="0"/>
                          <a:ext cx="1645920" cy="9258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 xmlns:a="http://schemas.openxmlformats.org/drawingml/2006/main" xmlns:r="http://schemas.openxmlformats.org/officeDocument/2006/relationships">
            <p:nvPicPr>
              <p:cNvPr id="100001" name="zoom-7">
                <a:hlinkClick r:id="Rc3c7f3286386423b" action="ppaction://hlinksldjump"/>
                <a:extLst>
                  <a:ext uri="{FF2B5EF4-FFF2-40B4-BE49-F238E27FC236}">
                    <a16:creationId xmlns:a16="http://schemas.microsoft.com/office/drawing/2014/main" id="{8E81C174-E173-43DA-8B35-13770863EC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d5f58048e5b34240"/>
              <a:stretch>
                <a:fillRect/>
              </a:stretch>
            </p:blipFill>
            <p:spPr>
              <a:xfrm>
                <a:off x="6858000" y="2423160"/>
                <a:ext cx="1645920" cy="9258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011" name="TextBox 9"/>
          <p:cNvSpPr/>
          <p:nvPr/>
        </p:nvSpPr>
        <p:spPr>
          <a:xfrm>
            <a:off x="457200" y="3675888"/>
            <a:ext cx="411480" cy="411480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lIns="0" tIns="0" rIns="0" bIns="0" anchor="ctr"/>
          <a:lstStyle/>
          <a:p>
            <a:pPr algn="ctr"/>
            <a:r>
              <a:rPr lang="zh-TW" sz="1600" b="1">
                <a:solidFill>
                  <a:srgbClr val="00F2FE"/>
                </a:solidFill>
                <a:latin typeface="Noto Sans TC"/>
                <a:ea typeface="Noto Sans TC"/>
              </a:rPr>
              <a:t>3</a:t>
            </a:r>
          </a:p>
        </p:txBody>
      </p:sp>
      <p:sp>
        <p:nvSpPr>
          <p:cNvPr id="12012" name="TextBox 10"/>
          <p:cNvSpPr txBox="1"/>
          <p:nvPr/>
        </p:nvSpPr>
        <p:spPr>
          <a:xfrm>
            <a:off x="1051560" y="3429000"/>
            <a:ext cx="4846320" cy="914400"/>
          </a:xfrm>
          <a:prstGeom prst="rect">
            <a:avLst/>
          </a:prstGeom>
        </p:spPr>
        <p:txBody>
          <a:bodyPr anchor="ctr"/>
          <a:lstStyle/>
          <a:p>
            <a:r>
              <a:rPr lang="zh-TW" sz="1400" b="0">
                <a:solidFill>
                  <a:srgbClr val="FFFFFF"/>
                </a:solidFill>
                <a:latin typeface="Noto Sans TC"/>
                <a:ea typeface="Noto Sans TC"/>
              </a:rPr>
              <a:t>只送欄位資訊和摘要，失敗時不影響已經做好的部分</a:t>
            </a:r>
          </a:p>
        </p:txBody>
      </p:sp>
      <mc:AlternateContent>
        <mc:Choice xmlns:pslz="http://schemas.microsoft.com/office/powerpoint/2016/slidezoom" Requires="pslz">
          <p:graphicFrame xmlns:a="http://schemas.openxmlformats.org/drawingml/2006/main" xmlns:r="http://schemas.openxmlformats.org/officeDocument/2006/relationships">
            <p:nvGraphicFramePr>
              <p:cNvPr id="100002" name="zoom-10">
                <a:extLst>
                  <a:ext uri="{FF2B5EF4-FFF2-40B4-BE49-F238E27FC236}">
                    <a16:creationId xmlns:a16="http://schemas.microsoft.com/office/drawing/2014/main" id="{701DA91A-B89F-4D6F-A291-89104C1122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58000" y="3429000"/>
              <a:ext cx="1645920" cy="925830"/>
            </p:xfrm>
            <a:graphic>
              <a:graphicData uri="http://schemas.microsoft.com/office/powerpoint/2016/slidezoom">
                <pslz:sldZm>
                  <pslz:sldZmObj sldId="265" cId="0">
                    <pslz:zmPr xmlns:p166="http://schemas.microsoft.com/office/powerpoint/2016/6/main" id="{76399F48-557D-4487-B587-2644026CA512}" returnToParent="0" transitionDur="1000">
                      <p166:blipFill>
                        <a:blip r:embed="R6aaa01a0fd7b4e9d"/>
                        <a:stretch>
                          <a:fillRect/>
                        </a:stretch>
                      </p166:blipFill>
                      <p166:spPr>
                        <a:xfrm>
                          <a:off x="0" y="0"/>
                          <a:ext cx="1645920" cy="9258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 xmlns:a="http://schemas.openxmlformats.org/drawingml/2006/main" xmlns:r="http://schemas.openxmlformats.org/officeDocument/2006/relationships">
            <p:nvPicPr>
              <p:cNvPr id="100002" name="zoom-10">
                <a:hlinkClick r:id="R2e597580643a47e6" action="ppaction://hlinksldjump"/>
                <a:extLst>
                  <a:ext uri="{FF2B5EF4-FFF2-40B4-BE49-F238E27FC236}">
                    <a16:creationId xmlns:a16="http://schemas.microsoft.com/office/drawing/2014/main" id="{701DA91A-B89F-4D6F-A291-89104C1122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6aaa01a0fd7b4e9d"/>
              <a:stretch>
                <a:fillRect/>
              </a:stretch>
            </p:blipFill>
            <p:spPr>
              <a:xfrm>
                <a:off x="6858000" y="3429000"/>
                <a:ext cx="1645920" cy="9258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014" name="TextBox 11"/>
          <p:cNvSpPr txBox="1"/>
          <p:nvPr/>
        </p:nvSpPr>
        <p:spPr>
          <a:xfrm>
            <a:off x="457200" y="4526280"/>
            <a:ext cx="6858000" cy="288000"/>
          </a:xfrm>
          <a:prstGeom prst="rect">
            <a:avLst/>
          </a:prstGeom>
        </p:spPr>
        <p:txBody>
          <a:bodyPr/>
          <a:lstStyle/>
          <a:p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完整規則見 docs/JEV智慧化產製儀表板的流程與方法.md</a:t>
            </a:r>
          </a:p>
        </p:txBody>
      </p:sp>
      <p:sp>
        <p:nvSpPr>
          <p:cNvPr id="12015" name="TextBox 12"/>
          <p:cNvSpPr txBox="1"/>
          <p:nvPr/>
        </p:nvSpPr>
        <p:spPr>
          <a:xfrm>
            <a:off x="7772400" y="4572000"/>
            <a:ext cx="914400" cy="288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zh-TW" sz="1050" b="0">
                <a:solidFill>
                  <a:srgbClr val="D6D3F0"/>
                </a:solidFill>
                <a:latin typeface="Noto Sans TC"/>
                <a:ea typeface="Noto Sans TC"/>
              </a:rPr>
              <a:t>12</a:t>
            </a:r>
          </a:p>
        </p:txBody>
      </p:sp>
    </p:spTree>
  </p:cSld>
  <mc:AlternateContent xmlns:a16="http://schemas.microsoft.com/office/drawing/2014/main" xmlns:pslz="http://schemas.microsoft.com/office/powerpoint/2016/slidezoom" xmlns:a="http://schemas.openxmlformats.org/drawingml/2006/main" xmlns:r="http://schemas.openxmlformats.org/officeDocument/2006/relationships" xmlns:p166="http://schemas.microsoft.com/office/powerpoint/2016/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>
    <mc:Choice Requires="p159">
      <p:transition xmlns:p159="http://schemas.microsoft.com/office/powerpoint/2015/09/main" p14:dur="1200">
        <p159:morph option="byObject"/>
      </p:transition>
    </mc:Choice>
    <mc:Fallback>
      <p:transition>
        <p:fade/>
      </p:transition>
    </mc:Fallback>
  </mc:AlternateContent>
  <p:timing xmlns:a16="http://schemas.microsoft.com/office/drawing/2014/main" xmlns:pslz="http://schemas.microsoft.com/office/powerpoint/2016/slidezoom" xmlns:a="http://schemas.openxmlformats.org/drawingml/2006/main" xmlns:r="http://schemas.openxmlformats.org/officeDocument/2006/relationships" xmlns:p166="http://schemas.microsoft.com/office/powerpoint/2016/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2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1" dur="400"/>
                                        <p:tgtEl>
                                          <p:spTgt spid="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2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2" dur="400"/>
                                        <p:tgtEl>
                                          <p:spTgt spid="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0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3" dur="400"/>
                                        <p:tgtEl>
                                          <p:spTgt spid="10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2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4" dur="400"/>
                                        <p:tgtEl>
                                          <p:spTgt spid="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2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5" dur="400"/>
                                        <p:tgtEl>
                                          <p:spTgt spid="1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6" dur="400"/>
                                        <p:tgtEl>
                                          <p:spTgt spid="10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7" dur="400"/>
                                        <p:tgtEl>
                                          <p:spTgt spid="1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2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8" dur="400"/>
                                        <p:tgtEl>
                                          <p:spTgt spid="1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0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9" dur="400"/>
                                        <p:tgtEl>
                                          <p:spTgt spid="10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05" grpId="0"/>
      <p:bldP spid="12006" grpId="1"/>
      <p:bldP spid="12008" grpId="3"/>
      <p:bldP spid="12009" grpId="4"/>
      <p:bldP spid="12011" grpId="6"/>
      <p:bldP spid="12012" grpId="7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OfficeCLI/1.0.153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2026-10-05T09:36:35.0000000Z</dcterms:created>
  <lastModifiedBy>OfficeCLI</lastModifiedBy>
  <dcterms:modified xsi:type="dcterms:W3CDTF">2026-10-05T09:36:41.7470361Z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1.0.153</vt:lpwstr>
  </op:property>
  <op:property fmtid="{D5CDD505-2E9C-101B-9397-08002B2CF9AE}" pid="3" name="OfficeCLI.LastModified">
    <vt:lpwstr xmlns:vt="http://schemas.openxmlformats.org/officeDocument/2006/docPropsVTypes">2026-10-05T09:39:17Z</vt:lpwstr>
  </op:property>
</op:Properties>
</file>